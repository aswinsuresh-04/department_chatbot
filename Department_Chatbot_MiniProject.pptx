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2F6"/>
          </a:solidFill>
          <a:ln/>
        </p:spPr>
      </p:sp>
      <p:pic>
        <p:nvPicPr>
          <p:cNvPr id="3" name="Image 0" descr="preencoded.png">    </p:cNvPr>
          <p:cNvPicPr>
            <a:picLocks noChangeAspect="1"/>
          </p:cNvPicPr>
          <p:nvPr/>
        </p:nvPicPr>
        <p:blipFill>
          <a:blip r:embed="rId1"/>
          <a:stretch>
            <a:fillRect/>
          </a:stretch>
        </p:blipFill>
        <p:spPr>
          <a:xfrm>
            <a:off x="640080" y="731520"/>
            <a:ext cx="594360" cy="594360"/>
          </a:xfrm>
          <a:prstGeom prst="rect">
            <a:avLst/>
          </a:prstGeom>
        </p:spPr>
      </p:pic>
      <p:sp>
        <p:nvSpPr>
          <p:cNvPr id="4" name="Text 1"/>
          <p:cNvSpPr/>
          <p:nvPr/>
        </p:nvSpPr>
        <p:spPr>
          <a:xfrm>
            <a:off x="640080" y="1554480"/>
            <a:ext cx="7772400" cy="1280160"/>
          </a:xfrm>
          <a:prstGeom prst="rect">
            <a:avLst/>
          </a:prstGeom>
          <a:noFill/>
          <a:ln/>
        </p:spPr>
        <p:txBody>
          <a:bodyPr wrap="square" rtlCol="0" anchor="ctr"/>
          <a:lstStyle/>
          <a:p>
            <a:pPr indent="0" marL="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RAG-Based Intelligent</a:t>
            </a:r>
            <a:endParaRPr lang="en-US" sz="3400" dirty="0"/>
          </a:p>
          <a:p>
            <a:pPr indent="0" marL="0">
              <a:lnSpc>
                <a:spcPct val="115000"/>
              </a:lnSpc>
              <a:buNone/>
            </a:pPr>
            <a:r>
              <a:rPr lang="en-US" sz="3400" b="1" dirty="0">
                <a:solidFill>
                  <a:srgbClr val="FFFFFF"/>
                </a:solidFill>
                <a:latin typeface="Trebuchet MS" pitchFamily="34" charset="0"/>
                <a:ea typeface="Trebuchet MS" pitchFamily="34" charset="-122"/>
                <a:cs typeface="Trebuchet MS" pitchFamily="34" charset="-120"/>
              </a:rPr>
              <a:t>Department Chatbot</a:t>
            </a:r>
            <a:endParaRPr lang="en-US" sz="3400" dirty="0"/>
          </a:p>
        </p:txBody>
      </p:sp>
      <p:sp>
        <p:nvSpPr>
          <p:cNvPr id="5" name="Text 2"/>
          <p:cNvSpPr/>
          <p:nvPr/>
        </p:nvSpPr>
        <p:spPr>
          <a:xfrm>
            <a:off x="640080" y="2926080"/>
            <a:ext cx="4572000" cy="320040"/>
          </a:xfrm>
          <a:prstGeom prst="rect">
            <a:avLst/>
          </a:prstGeom>
          <a:noFill/>
          <a:ln/>
        </p:spPr>
        <p:txBody>
          <a:bodyPr wrap="square" rtlCol="0" anchor="ctr"/>
          <a:lstStyle/>
          <a:p>
            <a:pPr indent="0" marL="0">
              <a:buNone/>
            </a:pPr>
            <a:r>
              <a:rPr lang="en-US" sz="1500" b="1" dirty="0">
                <a:solidFill>
                  <a:srgbClr val="3B82F6"/>
                </a:solidFill>
                <a:latin typeface="Calibri" pitchFamily="34" charset="0"/>
                <a:ea typeface="Calibri" pitchFamily="34" charset="-122"/>
                <a:cs typeface="Calibri" pitchFamily="34" charset="-120"/>
              </a:rPr>
              <a:t>8th Semester Mini Project</a:t>
            </a:r>
            <a:endParaRPr lang="en-US" sz="1500" dirty="0"/>
          </a:p>
        </p:txBody>
      </p:sp>
      <p:sp>
        <p:nvSpPr>
          <p:cNvPr id="6" name="Text 3"/>
          <p:cNvSpPr/>
          <p:nvPr/>
        </p:nvSpPr>
        <p:spPr>
          <a:xfrm>
            <a:off x="640080" y="3246120"/>
            <a:ext cx="45720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Department of Computer Science</a:t>
            </a:r>
            <a:endParaRPr lang="en-US" sz="1300" dirty="0"/>
          </a:p>
        </p:txBody>
      </p:sp>
      <p:sp>
        <p:nvSpPr>
          <p:cNvPr id="7" name="Text 4"/>
          <p:cNvSpPr/>
          <p:nvPr/>
        </p:nvSpPr>
        <p:spPr>
          <a:xfrm>
            <a:off x="640080" y="3520440"/>
            <a:ext cx="5486400" cy="27432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Cochin University of Science and Technology (CUSAT)</a:t>
            </a:r>
            <a:endParaRPr lang="en-US" sz="1300" dirty="0"/>
          </a:p>
        </p:txBody>
      </p:sp>
      <p:sp>
        <p:nvSpPr>
          <p:cNvPr id="8" name="Text 5"/>
          <p:cNvSpPr/>
          <p:nvPr/>
        </p:nvSpPr>
        <p:spPr>
          <a:xfrm>
            <a:off x="640080" y="4114800"/>
            <a:ext cx="4572000" cy="2286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Aswin Suresh (Reg. No: 80522004)</a:t>
            </a:r>
            <a:endParaRPr lang="en-US" sz="1200" dirty="0"/>
          </a:p>
        </p:txBody>
      </p:sp>
      <p:sp>
        <p:nvSpPr>
          <p:cNvPr id="9" name="Text 6"/>
          <p:cNvSpPr/>
          <p:nvPr/>
        </p:nvSpPr>
        <p:spPr>
          <a:xfrm>
            <a:off x="640080" y="4389120"/>
            <a:ext cx="4572000" cy="228600"/>
          </a:xfrm>
          <a:prstGeom prst="rect">
            <a:avLst/>
          </a:prstGeom>
          <a:noFill/>
          <a:ln/>
        </p:spPr>
        <p:txBody>
          <a:bodyPr wrap="square" rtlCol="0" anchor="ctr"/>
          <a:lstStyle/>
          <a:p>
            <a:pPr indent="0" marL="0">
              <a:buNone/>
            </a:pPr>
            <a:r>
              <a:rPr lang="en-US" sz="1200" dirty="0">
                <a:solidFill>
                  <a:srgbClr val="94A3B8"/>
                </a:solidFill>
                <a:latin typeface="Calibri" pitchFamily="34" charset="0"/>
                <a:ea typeface="Calibri" pitchFamily="34" charset="-122"/>
                <a:cs typeface="Calibri" pitchFamily="34" charset="-120"/>
              </a:rPr>
              <a:t>Under the Guidance of: Dr. Jeena Kleenankandy</a:t>
            </a:r>
            <a:endParaRPr lang="en-US" sz="1200" dirty="0"/>
          </a:p>
        </p:txBody>
      </p:sp>
      <p:sp>
        <p:nvSpPr>
          <p:cNvPr id="10" name="Text 7"/>
          <p:cNvSpPr/>
          <p:nvPr/>
        </p:nvSpPr>
        <p:spPr>
          <a:xfrm>
            <a:off x="6858000" y="4572000"/>
            <a:ext cx="2011680" cy="274320"/>
          </a:xfrm>
          <a:prstGeom prst="rect">
            <a:avLst/>
          </a:prstGeom>
          <a:noFill/>
          <a:ln/>
        </p:spPr>
        <p:txBody>
          <a:bodyPr wrap="square"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April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Agenda</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Text 2"/>
          <p:cNvSpPr/>
          <p:nvPr/>
        </p:nvSpPr>
        <p:spPr>
          <a:xfrm>
            <a:off x="640080" y="11887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1.</a:t>
            </a:r>
            <a:endParaRPr lang="en-US" sz="1200" dirty="0"/>
          </a:p>
        </p:txBody>
      </p:sp>
      <p:sp>
        <p:nvSpPr>
          <p:cNvPr id="5" name="Text 3"/>
          <p:cNvSpPr/>
          <p:nvPr/>
        </p:nvSpPr>
        <p:spPr>
          <a:xfrm>
            <a:off x="1005840" y="11887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Introduction</a:t>
            </a:r>
            <a:endParaRPr lang="en-US" sz="1200" dirty="0"/>
          </a:p>
        </p:txBody>
      </p:sp>
      <p:sp>
        <p:nvSpPr>
          <p:cNvPr id="6" name="Text 4"/>
          <p:cNvSpPr/>
          <p:nvPr/>
        </p:nvSpPr>
        <p:spPr>
          <a:xfrm>
            <a:off x="640080" y="16459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2.</a:t>
            </a:r>
            <a:endParaRPr lang="en-US" sz="1200" dirty="0"/>
          </a:p>
        </p:txBody>
      </p:sp>
      <p:sp>
        <p:nvSpPr>
          <p:cNvPr id="7" name="Text 5"/>
          <p:cNvSpPr/>
          <p:nvPr/>
        </p:nvSpPr>
        <p:spPr>
          <a:xfrm>
            <a:off x="1005840" y="16459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Literature Review</a:t>
            </a:r>
            <a:endParaRPr lang="en-US" sz="1200" dirty="0"/>
          </a:p>
        </p:txBody>
      </p:sp>
      <p:sp>
        <p:nvSpPr>
          <p:cNvPr id="8" name="Text 6"/>
          <p:cNvSpPr/>
          <p:nvPr/>
        </p:nvSpPr>
        <p:spPr>
          <a:xfrm>
            <a:off x="640080" y="21031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3.</a:t>
            </a:r>
            <a:endParaRPr lang="en-US" sz="1200" dirty="0"/>
          </a:p>
        </p:txBody>
      </p:sp>
      <p:sp>
        <p:nvSpPr>
          <p:cNvPr id="9" name="Text 7"/>
          <p:cNvSpPr/>
          <p:nvPr/>
        </p:nvSpPr>
        <p:spPr>
          <a:xfrm>
            <a:off x="1005840" y="21031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Problem Statement</a:t>
            </a:r>
            <a:endParaRPr lang="en-US" sz="1200" dirty="0"/>
          </a:p>
        </p:txBody>
      </p:sp>
      <p:sp>
        <p:nvSpPr>
          <p:cNvPr id="10" name="Text 8"/>
          <p:cNvSpPr/>
          <p:nvPr/>
        </p:nvSpPr>
        <p:spPr>
          <a:xfrm>
            <a:off x="640080" y="25603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4.</a:t>
            </a:r>
            <a:endParaRPr lang="en-US" sz="1200" dirty="0"/>
          </a:p>
        </p:txBody>
      </p:sp>
      <p:sp>
        <p:nvSpPr>
          <p:cNvPr id="11" name="Text 9"/>
          <p:cNvSpPr/>
          <p:nvPr/>
        </p:nvSpPr>
        <p:spPr>
          <a:xfrm>
            <a:off x="1005840" y="25603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Objectives</a:t>
            </a:r>
            <a:endParaRPr lang="en-US" sz="1200" dirty="0"/>
          </a:p>
        </p:txBody>
      </p:sp>
      <p:sp>
        <p:nvSpPr>
          <p:cNvPr id="12" name="Text 10"/>
          <p:cNvSpPr/>
          <p:nvPr/>
        </p:nvSpPr>
        <p:spPr>
          <a:xfrm>
            <a:off x="640080" y="30175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5.</a:t>
            </a:r>
            <a:endParaRPr lang="en-US" sz="1200" dirty="0"/>
          </a:p>
        </p:txBody>
      </p:sp>
      <p:sp>
        <p:nvSpPr>
          <p:cNvPr id="13" name="Text 11"/>
          <p:cNvSpPr/>
          <p:nvPr/>
        </p:nvSpPr>
        <p:spPr>
          <a:xfrm>
            <a:off x="1005840" y="30175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System Architecture</a:t>
            </a:r>
            <a:endParaRPr lang="en-US" sz="1200" dirty="0"/>
          </a:p>
        </p:txBody>
      </p:sp>
      <p:sp>
        <p:nvSpPr>
          <p:cNvPr id="14" name="Text 12"/>
          <p:cNvSpPr/>
          <p:nvPr/>
        </p:nvSpPr>
        <p:spPr>
          <a:xfrm>
            <a:off x="640080" y="34747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6.</a:t>
            </a:r>
            <a:endParaRPr lang="en-US" sz="1200" dirty="0"/>
          </a:p>
        </p:txBody>
      </p:sp>
      <p:sp>
        <p:nvSpPr>
          <p:cNvPr id="15" name="Text 13"/>
          <p:cNvSpPr/>
          <p:nvPr/>
        </p:nvSpPr>
        <p:spPr>
          <a:xfrm>
            <a:off x="1005840" y="34747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Methodology - RAG Pipeline</a:t>
            </a:r>
            <a:endParaRPr lang="en-US" sz="1200" dirty="0"/>
          </a:p>
        </p:txBody>
      </p:sp>
      <p:sp>
        <p:nvSpPr>
          <p:cNvPr id="16" name="Text 14"/>
          <p:cNvSpPr/>
          <p:nvPr/>
        </p:nvSpPr>
        <p:spPr>
          <a:xfrm>
            <a:off x="640080" y="39319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7.</a:t>
            </a:r>
            <a:endParaRPr lang="en-US" sz="1200" dirty="0"/>
          </a:p>
        </p:txBody>
      </p:sp>
      <p:sp>
        <p:nvSpPr>
          <p:cNvPr id="17" name="Text 15"/>
          <p:cNvSpPr/>
          <p:nvPr/>
        </p:nvSpPr>
        <p:spPr>
          <a:xfrm>
            <a:off x="1005840" y="39319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Methodology - Retrieval &amp; Chunking</a:t>
            </a:r>
            <a:endParaRPr lang="en-US" sz="1200" dirty="0"/>
          </a:p>
        </p:txBody>
      </p:sp>
      <p:sp>
        <p:nvSpPr>
          <p:cNvPr id="18" name="Text 16"/>
          <p:cNvSpPr/>
          <p:nvPr/>
        </p:nvSpPr>
        <p:spPr>
          <a:xfrm>
            <a:off x="640080" y="43891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8.</a:t>
            </a:r>
            <a:endParaRPr lang="en-US" sz="1200" dirty="0"/>
          </a:p>
        </p:txBody>
      </p:sp>
      <p:sp>
        <p:nvSpPr>
          <p:cNvPr id="19" name="Text 17"/>
          <p:cNvSpPr/>
          <p:nvPr/>
        </p:nvSpPr>
        <p:spPr>
          <a:xfrm>
            <a:off x="1005840" y="43891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Methodology - LLM Integration</a:t>
            </a:r>
            <a:endParaRPr lang="en-US" sz="1200" dirty="0"/>
          </a:p>
        </p:txBody>
      </p:sp>
      <p:sp>
        <p:nvSpPr>
          <p:cNvPr id="20" name="Text 18"/>
          <p:cNvSpPr/>
          <p:nvPr/>
        </p:nvSpPr>
        <p:spPr>
          <a:xfrm>
            <a:off x="4754880" y="11887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9.</a:t>
            </a:r>
            <a:endParaRPr lang="en-US" sz="1200" dirty="0"/>
          </a:p>
        </p:txBody>
      </p:sp>
      <p:sp>
        <p:nvSpPr>
          <p:cNvPr id="21" name="Text 19"/>
          <p:cNvSpPr/>
          <p:nvPr/>
        </p:nvSpPr>
        <p:spPr>
          <a:xfrm>
            <a:off x="5120640" y="11887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Technology Stack</a:t>
            </a:r>
            <a:endParaRPr lang="en-US" sz="1200" dirty="0"/>
          </a:p>
        </p:txBody>
      </p:sp>
      <p:sp>
        <p:nvSpPr>
          <p:cNvPr id="22" name="Text 20"/>
          <p:cNvSpPr/>
          <p:nvPr/>
        </p:nvSpPr>
        <p:spPr>
          <a:xfrm>
            <a:off x="4754880" y="16459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10.</a:t>
            </a:r>
            <a:endParaRPr lang="en-US" sz="1200" dirty="0"/>
          </a:p>
        </p:txBody>
      </p:sp>
      <p:sp>
        <p:nvSpPr>
          <p:cNvPr id="23" name="Text 21"/>
          <p:cNvSpPr/>
          <p:nvPr/>
        </p:nvSpPr>
        <p:spPr>
          <a:xfrm>
            <a:off x="5120640" y="16459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Implementation Details</a:t>
            </a:r>
            <a:endParaRPr lang="en-US" sz="1200" dirty="0"/>
          </a:p>
        </p:txBody>
      </p:sp>
      <p:sp>
        <p:nvSpPr>
          <p:cNvPr id="24" name="Text 22"/>
          <p:cNvSpPr/>
          <p:nvPr/>
        </p:nvSpPr>
        <p:spPr>
          <a:xfrm>
            <a:off x="4754880" y="21031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11.</a:t>
            </a:r>
            <a:endParaRPr lang="en-US" sz="1200" dirty="0"/>
          </a:p>
        </p:txBody>
      </p:sp>
      <p:sp>
        <p:nvSpPr>
          <p:cNvPr id="25" name="Text 23"/>
          <p:cNvSpPr/>
          <p:nvPr/>
        </p:nvSpPr>
        <p:spPr>
          <a:xfrm>
            <a:off x="5120640" y="21031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User Interface</a:t>
            </a:r>
            <a:endParaRPr lang="en-US" sz="1200" dirty="0"/>
          </a:p>
        </p:txBody>
      </p:sp>
      <p:sp>
        <p:nvSpPr>
          <p:cNvPr id="26" name="Text 24"/>
          <p:cNvSpPr/>
          <p:nvPr/>
        </p:nvSpPr>
        <p:spPr>
          <a:xfrm>
            <a:off x="4754880" y="25603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12.</a:t>
            </a:r>
            <a:endParaRPr lang="en-US" sz="1200" dirty="0"/>
          </a:p>
        </p:txBody>
      </p:sp>
      <p:sp>
        <p:nvSpPr>
          <p:cNvPr id="27" name="Text 25"/>
          <p:cNvSpPr/>
          <p:nvPr/>
        </p:nvSpPr>
        <p:spPr>
          <a:xfrm>
            <a:off x="5120640" y="25603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Key Features</a:t>
            </a:r>
            <a:endParaRPr lang="en-US" sz="1200" dirty="0"/>
          </a:p>
        </p:txBody>
      </p:sp>
      <p:sp>
        <p:nvSpPr>
          <p:cNvPr id="28" name="Text 26"/>
          <p:cNvSpPr/>
          <p:nvPr/>
        </p:nvSpPr>
        <p:spPr>
          <a:xfrm>
            <a:off x="4754880" y="30175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13.</a:t>
            </a:r>
            <a:endParaRPr lang="en-US" sz="1200" dirty="0"/>
          </a:p>
        </p:txBody>
      </p:sp>
      <p:sp>
        <p:nvSpPr>
          <p:cNvPr id="29" name="Text 27"/>
          <p:cNvSpPr/>
          <p:nvPr/>
        </p:nvSpPr>
        <p:spPr>
          <a:xfrm>
            <a:off x="5120640" y="30175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Results &amp; Testing</a:t>
            </a:r>
            <a:endParaRPr lang="en-US" sz="1200" dirty="0"/>
          </a:p>
        </p:txBody>
      </p:sp>
      <p:sp>
        <p:nvSpPr>
          <p:cNvPr id="30" name="Text 28"/>
          <p:cNvSpPr/>
          <p:nvPr/>
        </p:nvSpPr>
        <p:spPr>
          <a:xfrm>
            <a:off x="4754880" y="34747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14.</a:t>
            </a:r>
            <a:endParaRPr lang="en-US" sz="1200" dirty="0"/>
          </a:p>
        </p:txBody>
      </p:sp>
      <p:sp>
        <p:nvSpPr>
          <p:cNvPr id="31" name="Text 29"/>
          <p:cNvSpPr/>
          <p:nvPr/>
        </p:nvSpPr>
        <p:spPr>
          <a:xfrm>
            <a:off x="5120640" y="34747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Challenges &amp; Solutions</a:t>
            </a:r>
            <a:endParaRPr lang="en-US" sz="1200" dirty="0"/>
          </a:p>
        </p:txBody>
      </p:sp>
      <p:sp>
        <p:nvSpPr>
          <p:cNvPr id="32" name="Text 30"/>
          <p:cNvSpPr/>
          <p:nvPr/>
        </p:nvSpPr>
        <p:spPr>
          <a:xfrm>
            <a:off x="4754880" y="39319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15.</a:t>
            </a:r>
            <a:endParaRPr lang="en-US" sz="1200" dirty="0"/>
          </a:p>
        </p:txBody>
      </p:sp>
      <p:sp>
        <p:nvSpPr>
          <p:cNvPr id="33" name="Text 31"/>
          <p:cNvSpPr/>
          <p:nvPr/>
        </p:nvSpPr>
        <p:spPr>
          <a:xfrm>
            <a:off x="5120640" y="39319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Future Scope</a:t>
            </a:r>
            <a:endParaRPr lang="en-US" sz="1200" dirty="0"/>
          </a:p>
        </p:txBody>
      </p:sp>
      <p:sp>
        <p:nvSpPr>
          <p:cNvPr id="34" name="Text 32"/>
          <p:cNvSpPr/>
          <p:nvPr/>
        </p:nvSpPr>
        <p:spPr>
          <a:xfrm>
            <a:off x="4754880" y="4389120"/>
            <a:ext cx="365760" cy="365760"/>
          </a:xfrm>
          <a:prstGeom prst="rect">
            <a:avLst/>
          </a:prstGeom>
          <a:noFill/>
          <a:ln/>
        </p:spPr>
        <p:txBody>
          <a:bodyPr wrap="square" lIns="0" tIns="0" rIns="0" bIns="0" rtlCol="0" anchor="ctr"/>
          <a:lstStyle/>
          <a:p>
            <a:pPr indent="0" marL="0">
              <a:buNone/>
            </a:pPr>
            <a:r>
              <a:rPr lang="en-US" sz="1200" b="1" dirty="0">
                <a:solidFill>
                  <a:srgbClr val="3B82F6"/>
                </a:solidFill>
                <a:latin typeface="Trebuchet MS" pitchFamily="34" charset="0"/>
                <a:ea typeface="Trebuchet MS" pitchFamily="34" charset="-122"/>
                <a:cs typeface="Trebuchet MS" pitchFamily="34" charset="-120"/>
              </a:rPr>
              <a:t>16.</a:t>
            </a:r>
            <a:endParaRPr lang="en-US" sz="1200" dirty="0"/>
          </a:p>
        </p:txBody>
      </p:sp>
      <p:sp>
        <p:nvSpPr>
          <p:cNvPr id="35" name="Text 33"/>
          <p:cNvSpPr/>
          <p:nvPr/>
        </p:nvSpPr>
        <p:spPr>
          <a:xfrm>
            <a:off x="5120640" y="4389120"/>
            <a:ext cx="347472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Conclusion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Introduction</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Text 2"/>
          <p:cNvSpPr/>
          <p:nvPr/>
        </p:nvSpPr>
        <p:spPr>
          <a:xfrm>
            <a:off x="640080" y="1188720"/>
            <a:ext cx="7772400" cy="822960"/>
          </a:xfrm>
          <a:prstGeom prst="rect">
            <a:avLst/>
          </a:prstGeom>
          <a:noFill/>
          <a:ln/>
        </p:spPr>
        <p:txBody>
          <a:bodyPr wrap="square" lIns="0" tIns="0" rIns="0" bIns="0" rtlCol="0" anchor="ctr"/>
          <a:lstStyle/>
          <a:p>
            <a:pPr indent="0" marL="0">
              <a:lnSpc>
                <a:spcPct val="150000"/>
              </a:lnSpc>
              <a:buNone/>
            </a:pPr>
            <a:r>
              <a:rPr lang="en-US" sz="1300" dirty="0">
                <a:solidFill>
                  <a:srgbClr val="1E293B"/>
                </a:solidFill>
                <a:latin typeface="Calibri" pitchFamily="34" charset="0"/>
                <a:ea typeface="Calibri" pitchFamily="34" charset="-122"/>
                <a:cs typeface="Calibri" pitchFamily="34" charset="-120"/>
              </a:rPr>
              <a:t>University departments manage vast amounts of information — faculty details, programmes, fee structures, research areas, placement data, and more. This information is typically scattered across multiple web pages, PDFs, and documents, making it difficult for students and visitors to find quick, accurate answers.</a:t>
            </a:r>
            <a:endParaRPr lang="en-US" sz="1300" dirty="0"/>
          </a:p>
        </p:txBody>
      </p:sp>
      <p:sp>
        <p:nvSpPr>
          <p:cNvPr id="5" name="Text 3"/>
          <p:cNvSpPr/>
          <p:nvPr/>
        </p:nvSpPr>
        <p:spPr>
          <a:xfrm>
            <a:off x="640080" y="2194560"/>
            <a:ext cx="7772400" cy="822960"/>
          </a:xfrm>
          <a:prstGeom prst="rect">
            <a:avLst/>
          </a:prstGeom>
          <a:noFill/>
          <a:ln/>
        </p:spPr>
        <p:txBody>
          <a:bodyPr wrap="square" lIns="0" tIns="0" rIns="0" bIns="0" rtlCol="0" anchor="ctr"/>
          <a:lstStyle/>
          <a:p>
            <a:pPr indent="0" marL="0">
              <a:lnSpc>
                <a:spcPct val="150000"/>
              </a:lnSpc>
              <a:buNone/>
            </a:pPr>
            <a:r>
              <a:rPr lang="en-US" sz="1300" dirty="0">
                <a:solidFill>
                  <a:srgbClr val="1E293B"/>
                </a:solidFill>
                <a:latin typeface="Calibri" pitchFamily="34" charset="0"/>
                <a:ea typeface="Calibri" pitchFamily="34" charset="-122"/>
                <a:cs typeface="Calibri" pitchFamily="34" charset="-120"/>
              </a:rPr>
              <a:t>This project develops an intelligent chatbot using Retrieval-Augmented Generation (RAG) that ingests department documents, indexes them into a vector database, and uses a Large Language Model (LLM) to answer queries naturally and accurately — available 24/7.</a:t>
            </a:r>
            <a:endParaRPr lang="en-US" sz="1300" dirty="0"/>
          </a:p>
        </p:txBody>
      </p:sp>
      <p:pic>
        <p:nvPicPr>
          <p:cNvPr id="6" name="Image 0" descr="preencoded.png">    </p:cNvPr>
          <p:cNvPicPr>
            <a:picLocks noChangeAspect="1"/>
          </p:cNvPicPr>
          <p:nvPr/>
        </p:nvPicPr>
        <p:blipFill>
          <a:blip r:embed="rId1"/>
          <a:stretch>
            <a:fillRect/>
          </a:stretch>
        </p:blipFill>
        <p:spPr>
          <a:xfrm>
            <a:off x="822960" y="3218688"/>
            <a:ext cx="256032" cy="256032"/>
          </a:xfrm>
          <a:prstGeom prst="rect">
            <a:avLst/>
          </a:prstGeom>
        </p:spPr>
      </p:pic>
      <p:sp>
        <p:nvSpPr>
          <p:cNvPr id="7" name="Text 4"/>
          <p:cNvSpPr/>
          <p:nvPr/>
        </p:nvSpPr>
        <p:spPr>
          <a:xfrm>
            <a:off x="1234440" y="3200400"/>
            <a:ext cx="73152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AI-powered conversational interface for department queries</a:t>
            </a:r>
            <a:endParaRPr lang="en-US" sz="1200" dirty="0"/>
          </a:p>
        </p:txBody>
      </p:sp>
      <p:pic>
        <p:nvPicPr>
          <p:cNvPr id="8" name="Image 1" descr="preencoded.png">    </p:cNvPr>
          <p:cNvPicPr>
            <a:picLocks noChangeAspect="1"/>
          </p:cNvPicPr>
          <p:nvPr/>
        </p:nvPicPr>
        <p:blipFill>
          <a:blip r:embed="rId2"/>
          <a:stretch>
            <a:fillRect/>
          </a:stretch>
        </p:blipFill>
        <p:spPr>
          <a:xfrm>
            <a:off x="822960" y="3630168"/>
            <a:ext cx="256032" cy="256032"/>
          </a:xfrm>
          <a:prstGeom prst="rect">
            <a:avLst/>
          </a:prstGeom>
        </p:spPr>
      </p:pic>
      <p:sp>
        <p:nvSpPr>
          <p:cNvPr id="9" name="Text 5"/>
          <p:cNvSpPr/>
          <p:nvPr/>
        </p:nvSpPr>
        <p:spPr>
          <a:xfrm>
            <a:off x="1234440" y="3611880"/>
            <a:ext cx="73152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Document ingestion from PDFs and text files into vector database</a:t>
            </a:r>
            <a:endParaRPr lang="en-US" sz="1200" dirty="0"/>
          </a:p>
        </p:txBody>
      </p:sp>
      <p:pic>
        <p:nvPicPr>
          <p:cNvPr id="10" name="Image 2" descr="preencoded.png">    </p:cNvPr>
          <p:cNvPicPr>
            <a:picLocks noChangeAspect="1"/>
          </p:cNvPicPr>
          <p:nvPr/>
        </p:nvPicPr>
        <p:blipFill>
          <a:blip r:embed="rId3"/>
          <a:stretch>
            <a:fillRect/>
          </a:stretch>
        </p:blipFill>
        <p:spPr>
          <a:xfrm>
            <a:off x="822960" y="4041648"/>
            <a:ext cx="256032" cy="256032"/>
          </a:xfrm>
          <a:prstGeom prst="rect">
            <a:avLst/>
          </a:prstGeom>
        </p:spPr>
      </p:pic>
      <p:sp>
        <p:nvSpPr>
          <p:cNvPr id="11" name="Text 6"/>
          <p:cNvSpPr/>
          <p:nvPr/>
        </p:nvSpPr>
        <p:spPr>
          <a:xfrm>
            <a:off x="1234440" y="4023360"/>
            <a:ext cx="73152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Hybrid semantic + keyword search for accurate retrieval</a:t>
            </a:r>
            <a:endParaRPr lang="en-US" sz="1200" dirty="0"/>
          </a:p>
        </p:txBody>
      </p:sp>
      <p:pic>
        <p:nvPicPr>
          <p:cNvPr id="12" name="Image 3" descr="preencoded.png">    </p:cNvPr>
          <p:cNvPicPr>
            <a:picLocks noChangeAspect="1"/>
          </p:cNvPicPr>
          <p:nvPr/>
        </p:nvPicPr>
        <p:blipFill>
          <a:blip r:embed="rId4"/>
          <a:stretch>
            <a:fillRect/>
          </a:stretch>
        </p:blipFill>
        <p:spPr>
          <a:xfrm>
            <a:off x="822960" y="4453128"/>
            <a:ext cx="256032" cy="256032"/>
          </a:xfrm>
          <a:prstGeom prst="rect">
            <a:avLst/>
          </a:prstGeom>
        </p:spPr>
      </p:pic>
      <p:sp>
        <p:nvSpPr>
          <p:cNvPr id="13" name="Text 7"/>
          <p:cNvSpPr/>
          <p:nvPr/>
        </p:nvSpPr>
        <p:spPr>
          <a:xfrm>
            <a:off x="1234440" y="4434840"/>
            <a:ext cx="7315200" cy="36576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Natural language responses grounded in actual department data</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Literature Review</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640080" y="1097280"/>
            <a:ext cx="45720" cy="594360"/>
          </a:xfrm>
          <a:prstGeom prst="rect">
            <a:avLst/>
          </a:prstGeom>
          <a:solidFill>
            <a:srgbClr val="3B82F6"/>
          </a:solidFill>
          <a:ln/>
        </p:spPr>
      </p:sp>
      <p:sp>
        <p:nvSpPr>
          <p:cNvPr id="5" name="Text 3"/>
          <p:cNvSpPr/>
          <p:nvPr/>
        </p:nvSpPr>
        <p:spPr>
          <a:xfrm>
            <a:off x="914400" y="1097280"/>
            <a:ext cx="3657600" cy="228600"/>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RAG (Retrieval-Augmented Generation)</a:t>
            </a:r>
            <a:endParaRPr lang="en-US" sz="1200" dirty="0"/>
          </a:p>
        </p:txBody>
      </p:sp>
      <p:sp>
        <p:nvSpPr>
          <p:cNvPr id="6" name="Text 4"/>
          <p:cNvSpPr/>
          <p:nvPr/>
        </p:nvSpPr>
        <p:spPr>
          <a:xfrm>
            <a:off x="4572000" y="1097280"/>
            <a:ext cx="4114800" cy="228600"/>
          </a:xfrm>
          <a:prstGeom prst="rect">
            <a:avLst/>
          </a:prstGeom>
          <a:noFill/>
          <a:ln/>
        </p:spPr>
        <p:txBody>
          <a:bodyPr wrap="square" lIns="0" tIns="0" rIns="0" bIns="0" rtlCol="0" anchor="ctr"/>
          <a:lstStyle/>
          <a:p>
            <a:pPr algn="r" indent="0" marL="0">
              <a:buNone/>
            </a:pPr>
            <a:r>
              <a:rPr lang="en-US" sz="1000" i="1" dirty="0">
                <a:solidFill>
                  <a:srgbClr val="3B82F6"/>
                </a:solidFill>
                <a:latin typeface="Calibri" pitchFamily="34" charset="0"/>
                <a:ea typeface="Calibri" pitchFamily="34" charset="-122"/>
                <a:cs typeface="Calibri" pitchFamily="34" charset="-120"/>
              </a:rPr>
              <a:t>Lewis et al., 2020</a:t>
            </a:r>
            <a:endParaRPr lang="en-US" sz="1000" dirty="0"/>
          </a:p>
        </p:txBody>
      </p:sp>
      <p:sp>
        <p:nvSpPr>
          <p:cNvPr id="7" name="Text 5"/>
          <p:cNvSpPr/>
          <p:nvPr/>
        </p:nvSpPr>
        <p:spPr>
          <a:xfrm>
            <a:off x="914400" y="1353312"/>
            <a:ext cx="7772400" cy="3200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Combines retrieval from external knowledge with LLM generation, reducing hallucination and grounding answers in real data.</a:t>
            </a:r>
            <a:endParaRPr lang="en-US" sz="1000" dirty="0"/>
          </a:p>
        </p:txBody>
      </p:sp>
      <p:sp>
        <p:nvSpPr>
          <p:cNvPr id="8" name="Shape 6"/>
          <p:cNvSpPr/>
          <p:nvPr/>
        </p:nvSpPr>
        <p:spPr>
          <a:xfrm>
            <a:off x="640080" y="1874520"/>
            <a:ext cx="45720" cy="594360"/>
          </a:xfrm>
          <a:prstGeom prst="rect">
            <a:avLst/>
          </a:prstGeom>
          <a:solidFill>
            <a:srgbClr val="3B82F6"/>
          </a:solidFill>
          <a:ln/>
        </p:spPr>
      </p:sp>
      <p:sp>
        <p:nvSpPr>
          <p:cNvPr id="9" name="Text 7"/>
          <p:cNvSpPr/>
          <p:nvPr/>
        </p:nvSpPr>
        <p:spPr>
          <a:xfrm>
            <a:off x="914400" y="1874520"/>
            <a:ext cx="3657600" cy="228600"/>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Vector Databases &amp; Embeddings</a:t>
            </a:r>
            <a:endParaRPr lang="en-US" sz="1200" dirty="0"/>
          </a:p>
        </p:txBody>
      </p:sp>
      <p:sp>
        <p:nvSpPr>
          <p:cNvPr id="10" name="Text 8"/>
          <p:cNvSpPr/>
          <p:nvPr/>
        </p:nvSpPr>
        <p:spPr>
          <a:xfrm>
            <a:off x="4572000" y="1874520"/>
            <a:ext cx="4114800" cy="228600"/>
          </a:xfrm>
          <a:prstGeom prst="rect">
            <a:avLst/>
          </a:prstGeom>
          <a:noFill/>
          <a:ln/>
        </p:spPr>
        <p:txBody>
          <a:bodyPr wrap="square" lIns="0" tIns="0" rIns="0" bIns="0" rtlCol="0" anchor="ctr"/>
          <a:lstStyle/>
          <a:p>
            <a:pPr algn="r" indent="0" marL="0">
              <a:buNone/>
            </a:pPr>
            <a:r>
              <a:rPr lang="en-US" sz="1000" i="1" dirty="0">
                <a:solidFill>
                  <a:srgbClr val="3B82F6"/>
                </a:solidFill>
                <a:latin typeface="Calibri" pitchFamily="34" charset="0"/>
                <a:ea typeface="Calibri" pitchFamily="34" charset="-122"/>
                <a:cs typeface="Calibri" pitchFamily="34" charset="-120"/>
              </a:rPr>
              <a:t>Reimers &amp; Gurevych, 2019</a:t>
            </a:r>
            <a:endParaRPr lang="en-US" sz="1000" dirty="0"/>
          </a:p>
        </p:txBody>
      </p:sp>
      <p:sp>
        <p:nvSpPr>
          <p:cNvPr id="11" name="Text 9"/>
          <p:cNvSpPr/>
          <p:nvPr/>
        </p:nvSpPr>
        <p:spPr>
          <a:xfrm>
            <a:off x="914400" y="2130552"/>
            <a:ext cx="7772400" cy="3200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Sentence-BERT and BGE models enable semantic similarity search, forming the backbone of modern RAG systems.</a:t>
            </a:r>
            <a:endParaRPr lang="en-US" sz="1000" dirty="0"/>
          </a:p>
        </p:txBody>
      </p:sp>
      <p:sp>
        <p:nvSpPr>
          <p:cNvPr id="12" name="Shape 10"/>
          <p:cNvSpPr/>
          <p:nvPr/>
        </p:nvSpPr>
        <p:spPr>
          <a:xfrm>
            <a:off x="640080" y="2651760"/>
            <a:ext cx="45720" cy="594360"/>
          </a:xfrm>
          <a:prstGeom prst="rect">
            <a:avLst/>
          </a:prstGeom>
          <a:solidFill>
            <a:srgbClr val="3B82F6"/>
          </a:solidFill>
          <a:ln/>
        </p:spPr>
      </p:sp>
      <p:sp>
        <p:nvSpPr>
          <p:cNvPr id="13" name="Text 11"/>
          <p:cNvSpPr/>
          <p:nvPr/>
        </p:nvSpPr>
        <p:spPr>
          <a:xfrm>
            <a:off x="914400" y="2651760"/>
            <a:ext cx="3657600" cy="228600"/>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Large Language Models</a:t>
            </a:r>
            <a:endParaRPr lang="en-US" sz="1200" dirty="0"/>
          </a:p>
        </p:txBody>
      </p:sp>
      <p:sp>
        <p:nvSpPr>
          <p:cNvPr id="14" name="Text 12"/>
          <p:cNvSpPr/>
          <p:nvPr/>
        </p:nvSpPr>
        <p:spPr>
          <a:xfrm>
            <a:off x="4572000" y="2651760"/>
            <a:ext cx="4114800" cy="228600"/>
          </a:xfrm>
          <a:prstGeom prst="rect">
            <a:avLst/>
          </a:prstGeom>
          <a:noFill/>
          <a:ln/>
        </p:spPr>
        <p:txBody>
          <a:bodyPr wrap="square" lIns="0" tIns="0" rIns="0" bIns="0" rtlCol="0" anchor="ctr"/>
          <a:lstStyle/>
          <a:p>
            <a:pPr algn="r" indent="0" marL="0">
              <a:buNone/>
            </a:pPr>
            <a:r>
              <a:rPr lang="en-US" sz="1000" i="1" dirty="0">
                <a:solidFill>
                  <a:srgbClr val="3B82F6"/>
                </a:solidFill>
                <a:latin typeface="Calibri" pitchFamily="34" charset="0"/>
                <a:ea typeface="Calibri" pitchFamily="34" charset="-122"/>
                <a:cs typeface="Calibri" pitchFamily="34" charset="-120"/>
              </a:rPr>
              <a:t>Touvron et al., 2023</a:t>
            </a:r>
            <a:endParaRPr lang="en-US" sz="1000" dirty="0"/>
          </a:p>
        </p:txBody>
      </p:sp>
      <p:sp>
        <p:nvSpPr>
          <p:cNvPr id="15" name="Text 13"/>
          <p:cNvSpPr/>
          <p:nvPr/>
        </p:nvSpPr>
        <p:spPr>
          <a:xfrm>
            <a:off x="914400" y="2907792"/>
            <a:ext cx="7772400" cy="3200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LLaMA family models provide strong natural language understanding and generation capabilities for conversational AI.</a:t>
            </a:r>
            <a:endParaRPr lang="en-US" sz="1000" dirty="0"/>
          </a:p>
        </p:txBody>
      </p:sp>
      <p:sp>
        <p:nvSpPr>
          <p:cNvPr id="16" name="Shape 14"/>
          <p:cNvSpPr/>
          <p:nvPr/>
        </p:nvSpPr>
        <p:spPr>
          <a:xfrm>
            <a:off x="640080" y="3429000"/>
            <a:ext cx="45720" cy="594360"/>
          </a:xfrm>
          <a:prstGeom prst="rect">
            <a:avLst/>
          </a:prstGeom>
          <a:solidFill>
            <a:srgbClr val="3B82F6"/>
          </a:solidFill>
          <a:ln/>
        </p:spPr>
      </p:sp>
      <p:sp>
        <p:nvSpPr>
          <p:cNvPr id="17" name="Text 15"/>
          <p:cNvSpPr/>
          <p:nvPr/>
        </p:nvSpPr>
        <p:spPr>
          <a:xfrm>
            <a:off x="914400" y="3429000"/>
            <a:ext cx="3657600" cy="228600"/>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ChromaDB</a:t>
            </a:r>
            <a:endParaRPr lang="en-US" sz="1200" dirty="0"/>
          </a:p>
        </p:txBody>
      </p:sp>
      <p:sp>
        <p:nvSpPr>
          <p:cNvPr id="18" name="Text 16"/>
          <p:cNvSpPr/>
          <p:nvPr/>
        </p:nvSpPr>
        <p:spPr>
          <a:xfrm>
            <a:off x="4572000" y="3429000"/>
            <a:ext cx="4114800" cy="228600"/>
          </a:xfrm>
          <a:prstGeom prst="rect">
            <a:avLst/>
          </a:prstGeom>
          <a:noFill/>
          <a:ln/>
        </p:spPr>
        <p:txBody>
          <a:bodyPr wrap="square" lIns="0" tIns="0" rIns="0" bIns="0" rtlCol="0" anchor="ctr"/>
          <a:lstStyle/>
          <a:p>
            <a:pPr algn="r" indent="0" marL="0">
              <a:buNone/>
            </a:pPr>
            <a:r>
              <a:rPr lang="en-US" sz="1000" i="1" dirty="0">
                <a:solidFill>
                  <a:srgbClr val="3B82F6"/>
                </a:solidFill>
                <a:latin typeface="Calibri" pitchFamily="34" charset="0"/>
                <a:ea typeface="Calibri" pitchFamily="34" charset="-122"/>
                <a:cs typeface="Calibri" pitchFamily="34" charset="-120"/>
              </a:rPr>
              <a:t>Chroma, 2023</a:t>
            </a:r>
            <a:endParaRPr lang="en-US" sz="1000" dirty="0"/>
          </a:p>
        </p:txBody>
      </p:sp>
      <p:sp>
        <p:nvSpPr>
          <p:cNvPr id="19" name="Text 17"/>
          <p:cNvSpPr/>
          <p:nvPr/>
        </p:nvSpPr>
        <p:spPr>
          <a:xfrm>
            <a:off x="914400" y="3685032"/>
            <a:ext cx="7772400" cy="3200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Open-source embedding database designed for AI applications, providing persistent vector storage with metadata filtering.</a:t>
            </a:r>
            <a:endParaRPr lang="en-US" sz="1000" dirty="0"/>
          </a:p>
        </p:txBody>
      </p:sp>
      <p:sp>
        <p:nvSpPr>
          <p:cNvPr id="20" name="Shape 18"/>
          <p:cNvSpPr/>
          <p:nvPr/>
        </p:nvSpPr>
        <p:spPr>
          <a:xfrm>
            <a:off x="640080" y="4206240"/>
            <a:ext cx="45720" cy="594360"/>
          </a:xfrm>
          <a:prstGeom prst="rect">
            <a:avLst/>
          </a:prstGeom>
          <a:solidFill>
            <a:srgbClr val="3B82F6"/>
          </a:solidFill>
          <a:ln/>
        </p:spPr>
      </p:sp>
      <p:sp>
        <p:nvSpPr>
          <p:cNvPr id="21" name="Text 19"/>
          <p:cNvSpPr/>
          <p:nvPr/>
        </p:nvSpPr>
        <p:spPr>
          <a:xfrm>
            <a:off x="914400" y="4206240"/>
            <a:ext cx="3657600" cy="228600"/>
          </a:xfrm>
          <a:prstGeom prst="rect">
            <a:avLst/>
          </a:prstGeom>
          <a:noFill/>
          <a:ln/>
        </p:spPr>
        <p:txBody>
          <a:bodyPr wrap="square" lIns="0" tIns="0" rIns="0" bIns="0" rtlCol="0" anchor="ctr"/>
          <a:lstStyle/>
          <a:p>
            <a:pPr indent="0" marL="0">
              <a:buNone/>
            </a:pPr>
            <a:r>
              <a:rPr lang="en-US" sz="1200" b="1" dirty="0">
                <a:solidFill>
                  <a:srgbClr val="0F172A"/>
                </a:solidFill>
                <a:latin typeface="Trebuchet MS" pitchFamily="34" charset="0"/>
                <a:ea typeface="Trebuchet MS" pitchFamily="34" charset="-122"/>
                <a:cs typeface="Trebuchet MS" pitchFamily="34" charset="-120"/>
              </a:rPr>
              <a:t>Chatbot Systems in Education</a:t>
            </a:r>
            <a:endParaRPr lang="en-US" sz="1200" dirty="0"/>
          </a:p>
        </p:txBody>
      </p:sp>
      <p:sp>
        <p:nvSpPr>
          <p:cNvPr id="22" name="Text 20"/>
          <p:cNvSpPr/>
          <p:nvPr/>
        </p:nvSpPr>
        <p:spPr>
          <a:xfrm>
            <a:off x="4572000" y="4206240"/>
            <a:ext cx="4114800" cy="228600"/>
          </a:xfrm>
          <a:prstGeom prst="rect">
            <a:avLst/>
          </a:prstGeom>
          <a:noFill/>
          <a:ln/>
        </p:spPr>
        <p:txBody>
          <a:bodyPr wrap="square" lIns="0" tIns="0" rIns="0" bIns="0" rtlCol="0" anchor="ctr"/>
          <a:lstStyle/>
          <a:p>
            <a:pPr algn="r" indent="0" marL="0">
              <a:buNone/>
            </a:pPr>
            <a:r>
              <a:rPr lang="en-US" sz="1000" i="1" dirty="0">
                <a:solidFill>
                  <a:srgbClr val="3B82F6"/>
                </a:solidFill>
                <a:latin typeface="Calibri" pitchFamily="34" charset="0"/>
                <a:ea typeface="Calibri" pitchFamily="34" charset="-122"/>
                <a:cs typeface="Calibri" pitchFamily="34" charset="-120"/>
              </a:rPr>
              <a:t>Various, 2020-2024</a:t>
            </a:r>
            <a:endParaRPr lang="en-US" sz="1000" dirty="0"/>
          </a:p>
        </p:txBody>
      </p:sp>
      <p:sp>
        <p:nvSpPr>
          <p:cNvPr id="23" name="Text 21"/>
          <p:cNvSpPr/>
          <p:nvPr/>
        </p:nvSpPr>
        <p:spPr>
          <a:xfrm>
            <a:off x="914400" y="4462272"/>
            <a:ext cx="7772400" cy="3200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Growing adoption of AI chatbots in universities for student support, FAQ automation, and administrative assistance.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Problem Statement</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457200" y="1188720"/>
            <a:ext cx="2651760" cy="320040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5" name="Shape 3"/>
          <p:cNvSpPr/>
          <p:nvPr/>
        </p:nvSpPr>
        <p:spPr>
          <a:xfrm>
            <a:off x="457200" y="1188720"/>
            <a:ext cx="2651760" cy="45720"/>
          </a:xfrm>
          <a:prstGeom prst="rect">
            <a:avLst/>
          </a:prstGeom>
          <a:solidFill>
            <a:srgbClr val="3B82F6"/>
          </a:solidFill>
          <a:ln/>
        </p:spPr>
      </p:sp>
      <p:pic>
        <p:nvPicPr>
          <p:cNvPr id="6" name="Image 0" descr="preencoded.png">    </p:cNvPr>
          <p:cNvPicPr>
            <a:picLocks noChangeAspect="1"/>
          </p:cNvPicPr>
          <p:nvPr/>
        </p:nvPicPr>
        <p:blipFill>
          <a:blip r:embed="rId1"/>
          <a:stretch>
            <a:fillRect/>
          </a:stretch>
        </p:blipFill>
        <p:spPr>
          <a:xfrm>
            <a:off x="731520" y="1554480"/>
            <a:ext cx="457200" cy="457200"/>
          </a:xfrm>
          <a:prstGeom prst="rect">
            <a:avLst/>
          </a:prstGeom>
        </p:spPr>
      </p:pic>
      <p:sp>
        <p:nvSpPr>
          <p:cNvPr id="7" name="Text 4"/>
          <p:cNvSpPr/>
          <p:nvPr/>
        </p:nvSpPr>
        <p:spPr>
          <a:xfrm>
            <a:off x="731520" y="2194560"/>
            <a:ext cx="210312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Scattered Information</a:t>
            </a:r>
            <a:endParaRPr lang="en-US" sz="1400" dirty="0"/>
          </a:p>
        </p:txBody>
      </p:sp>
      <p:sp>
        <p:nvSpPr>
          <p:cNvPr id="8" name="Text 5"/>
          <p:cNvSpPr/>
          <p:nvPr/>
        </p:nvSpPr>
        <p:spPr>
          <a:xfrm>
            <a:off x="731520" y="2651760"/>
            <a:ext cx="2103120" cy="1371600"/>
          </a:xfrm>
          <a:prstGeom prst="rect">
            <a:avLst/>
          </a:prstGeom>
          <a:noFill/>
          <a:ln/>
        </p:spPr>
        <p:txBody>
          <a:bodyPr wrap="square" lIns="0" tIns="0" rIns="0" bIns="0" rtlCol="0" anchor="ctr"/>
          <a:lstStyle/>
          <a:p>
            <a:pPr indent="0" marL="0">
              <a:lnSpc>
                <a:spcPct val="150000"/>
              </a:lnSpc>
              <a:buNone/>
            </a:pPr>
            <a:r>
              <a:rPr lang="en-US" sz="1100" dirty="0">
                <a:solidFill>
                  <a:srgbClr val="64748B"/>
                </a:solidFill>
                <a:latin typeface="Calibri" pitchFamily="34" charset="0"/>
                <a:ea typeface="Calibri" pitchFamily="34" charset="-122"/>
                <a:cs typeface="Calibri" pitchFamily="34" charset="-120"/>
              </a:rPr>
              <a:t>Department data spread across 15+ web pages, PDFs, and documents with no unified access point for students and visitors.</a:t>
            </a:r>
            <a:endParaRPr lang="en-US" sz="1100" dirty="0"/>
          </a:p>
        </p:txBody>
      </p:sp>
      <p:sp>
        <p:nvSpPr>
          <p:cNvPr id="9" name="Shape 6"/>
          <p:cNvSpPr/>
          <p:nvPr/>
        </p:nvSpPr>
        <p:spPr>
          <a:xfrm>
            <a:off x="3337560" y="1188720"/>
            <a:ext cx="2651760" cy="320040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0" name="Shape 7"/>
          <p:cNvSpPr/>
          <p:nvPr/>
        </p:nvSpPr>
        <p:spPr>
          <a:xfrm>
            <a:off x="3337560" y="1188720"/>
            <a:ext cx="2651760" cy="45720"/>
          </a:xfrm>
          <a:prstGeom prst="rect">
            <a:avLst/>
          </a:prstGeom>
          <a:solidFill>
            <a:srgbClr val="7C3AED"/>
          </a:solidFill>
          <a:ln/>
        </p:spPr>
      </p:sp>
      <p:pic>
        <p:nvPicPr>
          <p:cNvPr id="11" name="Image 1" descr="preencoded.png">    </p:cNvPr>
          <p:cNvPicPr>
            <a:picLocks noChangeAspect="1"/>
          </p:cNvPicPr>
          <p:nvPr/>
        </p:nvPicPr>
        <p:blipFill>
          <a:blip r:embed="rId2"/>
          <a:stretch>
            <a:fillRect/>
          </a:stretch>
        </p:blipFill>
        <p:spPr>
          <a:xfrm>
            <a:off x="3611880" y="1554480"/>
            <a:ext cx="457200" cy="457200"/>
          </a:xfrm>
          <a:prstGeom prst="rect">
            <a:avLst/>
          </a:prstGeom>
        </p:spPr>
      </p:pic>
      <p:sp>
        <p:nvSpPr>
          <p:cNvPr id="12" name="Text 8"/>
          <p:cNvSpPr/>
          <p:nvPr/>
        </p:nvSpPr>
        <p:spPr>
          <a:xfrm>
            <a:off x="3611880" y="2194560"/>
            <a:ext cx="210312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No Real-Time Support</a:t>
            </a:r>
            <a:endParaRPr lang="en-US" sz="1400" dirty="0"/>
          </a:p>
        </p:txBody>
      </p:sp>
      <p:sp>
        <p:nvSpPr>
          <p:cNvPr id="13" name="Text 9"/>
          <p:cNvSpPr/>
          <p:nvPr/>
        </p:nvSpPr>
        <p:spPr>
          <a:xfrm>
            <a:off x="3611880" y="2651760"/>
            <a:ext cx="2103120" cy="1371600"/>
          </a:xfrm>
          <a:prstGeom prst="rect">
            <a:avLst/>
          </a:prstGeom>
          <a:noFill/>
          <a:ln/>
        </p:spPr>
        <p:txBody>
          <a:bodyPr wrap="square" lIns="0" tIns="0" rIns="0" bIns="0" rtlCol="0" anchor="ctr"/>
          <a:lstStyle/>
          <a:p>
            <a:pPr indent="0" marL="0">
              <a:lnSpc>
                <a:spcPct val="150000"/>
              </a:lnSpc>
              <a:buNone/>
            </a:pPr>
            <a:r>
              <a:rPr lang="en-US" sz="1100" dirty="0">
                <a:solidFill>
                  <a:srgbClr val="64748B"/>
                </a:solidFill>
                <a:latin typeface="Calibri" pitchFamily="34" charset="0"/>
                <a:ea typeface="Calibri" pitchFamily="34" charset="-122"/>
                <a:cs typeface="Calibri" pitchFamily="34" charset="-120"/>
              </a:rPr>
              <a:t>Students can only get answers during office hours. No instant, automated help available for common queries outside working hours.</a:t>
            </a:r>
            <a:endParaRPr lang="en-US" sz="1100" dirty="0"/>
          </a:p>
        </p:txBody>
      </p:sp>
      <p:sp>
        <p:nvSpPr>
          <p:cNvPr id="14" name="Shape 10"/>
          <p:cNvSpPr/>
          <p:nvPr/>
        </p:nvSpPr>
        <p:spPr>
          <a:xfrm>
            <a:off x="6217920" y="1188720"/>
            <a:ext cx="2651760" cy="320040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5" name="Shape 11"/>
          <p:cNvSpPr/>
          <p:nvPr/>
        </p:nvSpPr>
        <p:spPr>
          <a:xfrm>
            <a:off x="6217920" y="1188720"/>
            <a:ext cx="2651760" cy="45720"/>
          </a:xfrm>
          <a:prstGeom prst="rect">
            <a:avLst/>
          </a:prstGeom>
          <a:solidFill>
            <a:srgbClr val="F59E0B"/>
          </a:solidFill>
          <a:ln/>
        </p:spPr>
      </p:sp>
      <p:pic>
        <p:nvPicPr>
          <p:cNvPr id="16" name="Image 2" descr="preencoded.png">    </p:cNvPr>
          <p:cNvPicPr>
            <a:picLocks noChangeAspect="1"/>
          </p:cNvPicPr>
          <p:nvPr/>
        </p:nvPicPr>
        <p:blipFill>
          <a:blip r:embed="rId3"/>
          <a:stretch>
            <a:fillRect/>
          </a:stretch>
        </p:blipFill>
        <p:spPr>
          <a:xfrm>
            <a:off x="6492240" y="1554480"/>
            <a:ext cx="457200" cy="457200"/>
          </a:xfrm>
          <a:prstGeom prst="rect">
            <a:avLst/>
          </a:prstGeom>
        </p:spPr>
      </p:pic>
      <p:sp>
        <p:nvSpPr>
          <p:cNvPr id="17" name="Text 12"/>
          <p:cNvSpPr/>
          <p:nvPr/>
        </p:nvSpPr>
        <p:spPr>
          <a:xfrm>
            <a:off x="6492240" y="2194560"/>
            <a:ext cx="2103120" cy="36576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Static &amp; Outdated</a:t>
            </a:r>
            <a:endParaRPr lang="en-US" sz="1400" dirty="0"/>
          </a:p>
        </p:txBody>
      </p:sp>
      <p:sp>
        <p:nvSpPr>
          <p:cNvPr id="18" name="Text 13"/>
          <p:cNvSpPr/>
          <p:nvPr/>
        </p:nvSpPr>
        <p:spPr>
          <a:xfrm>
            <a:off x="6492240" y="2651760"/>
            <a:ext cx="2103120" cy="1371600"/>
          </a:xfrm>
          <a:prstGeom prst="rect">
            <a:avLst/>
          </a:prstGeom>
          <a:noFill/>
          <a:ln/>
        </p:spPr>
        <p:txBody>
          <a:bodyPr wrap="square" lIns="0" tIns="0" rIns="0" bIns="0" rtlCol="0" anchor="ctr"/>
          <a:lstStyle/>
          <a:p>
            <a:pPr indent="0" marL="0">
              <a:lnSpc>
                <a:spcPct val="150000"/>
              </a:lnSpc>
              <a:buNone/>
            </a:pPr>
            <a:r>
              <a:rPr lang="en-US" sz="1100" dirty="0">
                <a:solidFill>
                  <a:srgbClr val="64748B"/>
                </a:solidFill>
                <a:latin typeface="Calibri" pitchFamily="34" charset="0"/>
                <a:ea typeface="Calibri" pitchFamily="34" charset="-122"/>
                <a:cs typeface="Calibri" pitchFamily="34" charset="-120"/>
              </a:rPr>
              <a:t>Traditional FAQ pages can't handle dynamic or follow-up queries, and become outdated quickly as department information changes.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Objectives</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640080" y="1143000"/>
            <a:ext cx="320040" cy="320040"/>
          </a:xfrm>
          <a:prstGeom prst="ellipse">
            <a:avLst/>
          </a:prstGeom>
          <a:solidFill>
            <a:srgbClr val="3B82F6"/>
          </a:solidFill>
          <a:ln/>
        </p:spPr>
      </p:sp>
      <p:sp>
        <p:nvSpPr>
          <p:cNvPr id="5" name="Text 3"/>
          <p:cNvSpPr/>
          <p:nvPr/>
        </p:nvSpPr>
        <p:spPr>
          <a:xfrm>
            <a:off x="640080" y="114300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6" name="Text 4"/>
          <p:cNvSpPr/>
          <p:nvPr/>
        </p:nvSpPr>
        <p:spPr>
          <a:xfrm>
            <a:off x="1143000" y="1097280"/>
            <a:ext cx="7498080" cy="54864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Design and develop a RAG-based chatbot that retrieves accurate information from department documents and answers queries in natural language.</a:t>
            </a:r>
            <a:endParaRPr lang="en-US" sz="1100" dirty="0"/>
          </a:p>
        </p:txBody>
      </p:sp>
      <p:sp>
        <p:nvSpPr>
          <p:cNvPr id="7" name="Shape 5"/>
          <p:cNvSpPr/>
          <p:nvPr/>
        </p:nvSpPr>
        <p:spPr>
          <a:xfrm>
            <a:off x="640080" y="1783080"/>
            <a:ext cx="320040" cy="320040"/>
          </a:xfrm>
          <a:prstGeom prst="ellipse">
            <a:avLst/>
          </a:prstGeom>
          <a:solidFill>
            <a:srgbClr val="3B82F6"/>
          </a:solidFill>
          <a:ln/>
        </p:spPr>
      </p:sp>
      <p:sp>
        <p:nvSpPr>
          <p:cNvPr id="8" name="Text 6"/>
          <p:cNvSpPr/>
          <p:nvPr/>
        </p:nvSpPr>
        <p:spPr>
          <a:xfrm>
            <a:off x="640080" y="178308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9" name="Text 7"/>
          <p:cNvSpPr/>
          <p:nvPr/>
        </p:nvSpPr>
        <p:spPr>
          <a:xfrm>
            <a:off x="1143000" y="1737360"/>
            <a:ext cx="7498080" cy="54864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Implement a document ingestion pipeline that processes PDFs and text files, chunks them intelligently, and indexes them into a vector database (ChromaDB).</a:t>
            </a:r>
            <a:endParaRPr lang="en-US" sz="1100" dirty="0"/>
          </a:p>
        </p:txBody>
      </p:sp>
      <p:sp>
        <p:nvSpPr>
          <p:cNvPr id="10" name="Shape 8"/>
          <p:cNvSpPr/>
          <p:nvPr/>
        </p:nvSpPr>
        <p:spPr>
          <a:xfrm>
            <a:off x="640080" y="2423160"/>
            <a:ext cx="320040" cy="320040"/>
          </a:xfrm>
          <a:prstGeom prst="ellipse">
            <a:avLst/>
          </a:prstGeom>
          <a:solidFill>
            <a:srgbClr val="3B82F6"/>
          </a:solidFill>
          <a:ln/>
        </p:spPr>
      </p:sp>
      <p:sp>
        <p:nvSpPr>
          <p:cNvPr id="11" name="Text 9"/>
          <p:cNvSpPr/>
          <p:nvPr/>
        </p:nvSpPr>
        <p:spPr>
          <a:xfrm>
            <a:off x="640080" y="242316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2" name="Text 10"/>
          <p:cNvSpPr/>
          <p:nvPr/>
        </p:nvSpPr>
        <p:spPr>
          <a:xfrm>
            <a:off x="1143000" y="2377440"/>
            <a:ext cx="7498080" cy="54864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Build a hybrid retrieval system combining semantic search (BGE embeddings) with keyword matching for comprehensive information retrieval.</a:t>
            </a:r>
            <a:endParaRPr lang="en-US" sz="1100" dirty="0"/>
          </a:p>
        </p:txBody>
      </p:sp>
      <p:sp>
        <p:nvSpPr>
          <p:cNvPr id="13" name="Shape 11"/>
          <p:cNvSpPr/>
          <p:nvPr/>
        </p:nvSpPr>
        <p:spPr>
          <a:xfrm>
            <a:off x="640080" y="3063240"/>
            <a:ext cx="320040" cy="320040"/>
          </a:xfrm>
          <a:prstGeom prst="ellipse">
            <a:avLst/>
          </a:prstGeom>
          <a:solidFill>
            <a:srgbClr val="3B82F6"/>
          </a:solidFill>
          <a:ln/>
        </p:spPr>
      </p:sp>
      <p:sp>
        <p:nvSpPr>
          <p:cNvPr id="14" name="Text 12"/>
          <p:cNvSpPr/>
          <p:nvPr/>
        </p:nvSpPr>
        <p:spPr>
          <a:xfrm>
            <a:off x="640080" y="306324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15" name="Text 13"/>
          <p:cNvSpPr/>
          <p:nvPr/>
        </p:nvSpPr>
        <p:spPr>
          <a:xfrm>
            <a:off x="1143000" y="3017520"/>
            <a:ext cx="7498080" cy="54864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Integrate a Large Language Model (Groq/Llama) to generate contextual, human-like responses grounded in retrieved department data.</a:t>
            </a:r>
            <a:endParaRPr lang="en-US" sz="1100" dirty="0"/>
          </a:p>
        </p:txBody>
      </p:sp>
      <p:sp>
        <p:nvSpPr>
          <p:cNvPr id="16" name="Shape 14"/>
          <p:cNvSpPr/>
          <p:nvPr/>
        </p:nvSpPr>
        <p:spPr>
          <a:xfrm>
            <a:off x="640080" y="3703320"/>
            <a:ext cx="320040" cy="320040"/>
          </a:xfrm>
          <a:prstGeom prst="ellipse">
            <a:avLst/>
          </a:prstGeom>
          <a:solidFill>
            <a:srgbClr val="3B82F6"/>
          </a:solidFill>
          <a:ln/>
        </p:spPr>
      </p:sp>
      <p:sp>
        <p:nvSpPr>
          <p:cNvPr id="17" name="Text 15"/>
          <p:cNvSpPr/>
          <p:nvPr/>
        </p:nvSpPr>
        <p:spPr>
          <a:xfrm>
            <a:off x="640080" y="370332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18" name="Text 16"/>
          <p:cNvSpPr/>
          <p:nvPr/>
        </p:nvSpPr>
        <p:spPr>
          <a:xfrm>
            <a:off x="1143000" y="3657600"/>
            <a:ext cx="7498080" cy="54864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Develop a web-based chat interface with persistent conversation history, staff document management panel, and responsive design.</a:t>
            </a:r>
            <a:endParaRPr lang="en-US" sz="1100" dirty="0"/>
          </a:p>
        </p:txBody>
      </p:sp>
      <p:sp>
        <p:nvSpPr>
          <p:cNvPr id="19" name="Shape 17"/>
          <p:cNvSpPr/>
          <p:nvPr/>
        </p:nvSpPr>
        <p:spPr>
          <a:xfrm>
            <a:off x="640080" y="4343400"/>
            <a:ext cx="320040" cy="320040"/>
          </a:xfrm>
          <a:prstGeom prst="ellipse">
            <a:avLst/>
          </a:prstGeom>
          <a:solidFill>
            <a:srgbClr val="3B82F6"/>
          </a:solidFill>
          <a:ln/>
        </p:spPr>
      </p:sp>
      <p:sp>
        <p:nvSpPr>
          <p:cNvPr id="20" name="Text 18"/>
          <p:cNvSpPr/>
          <p:nvPr/>
        </p:nvSpPr>
        <p:spPr>
          <a:xfrm>
            <a:off x="640080" y="434340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21" name="Text 19"/>
          <p:cNvSpPr/>
          <p:nvPr/>
        </p:nvSpPr>
        <p:spPr>
          <a:xfrm>
            <a:off x="1143000" y="4297680"/>
            <a:ext cx="7498080" cy="548640"/>
          </a:xfrm>
          <a:prstGeom prst="rect">
            <a:avLst/>
          </a:prstGeom>
          <a:noFill/>
          <a:ln/>
        </p:spPr>
        <p:txBody>
          <a:bodyPr wrap="square" lIns="0" tIns="0" rIns="0" bIns="0" rtlCol="0" anchor="ctr"/>
          <a:lstStyle/>
          <a:p>
            <a:pPr indent="0" marL="0">
              <a:lnSpc>
                <a:spcPct val="130000"/>
              </a:lnSpc>
              <a:buNone/>
            </a:pPr>
            <a:r>
              <a:rPr lang="en-US" sz="1100" dirty="0">
                <a:solidFill>
                  <a:srgbClr val="1E293B"/>
                </a:solidFill>
                <a:latin typeface="Calibri" pitchFamily="34" charset="0"/>
                <a:ea typeface="Calibri" pitchFamily="34" charset="-122"/>
                <a:cs typeface="Calibri" pitchFamily="34" charset="-120"/>
              </a:rPr>
              <a:t>Ensure the system can be updated by non-technical staff through a simple upload interface without requiring code changes.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System Architecture</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274320" y="1371600"/>
            <a:ext cx="1554480" cy="1005840"/>
          </a:xfrm>
          <a:prstGeom prst="rect">
            <a:avLst/>
          </a:prstGeom>
          <a:solidFill>
            <a:srgbClr val="3B82F6"/>
          </a:solidFill>
          <a:ln/>
          <a:effectLst>
            <a:outerShdw sx="100000" sy="100000" kx="0" ky="0" algn="bl" rotWithShape="0" blurRad="50800" dist="25400" dir="8100000">
              <a:srgbClr val="000000">
                <a:alpha val="8000"/>
              </a:srgbClr>
            </a:outerShdw>
          </a:effectLst>
        </p:spPr>
      </p:sp>
      <p:sp>
        <p:nvSpPr>
          <p:cNvPr id="5" name="Text 3"/>
          <p:cNvSpPr/>
          <p:nvPr/>
        </p:nvSpPr>
        <p:spPr>
          <a:xfrm>
            <a:off x="365760" y="141732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User</a:t>
            </a:r>
            <a:endParaRPr lang="en-US" sz="1100" dirty="0"/>
          </a:p>
        </p:txBody>
      </p:sp>
      <p:sp>
        <p:nvSpPr>
          <p:cNvPr id="6" name="Text 4"/>
          <p:cNvSpPr/>
          <p:nvPr/>
        </p:nvSpPr>
        <p:spPr>
          <a:xfrm>
            <a:off x="365760" y="201168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Web Interface</a:t>
            </a:r>
            <a:endParaRPr lang="en-US" sz="900" dirty="0"/>
          </a:p>
        </p:txBody>
      </p:sp>
      <p:sp>
        <p:nvSpPr>
          <p:cNvPr id="7" name="Shape 5"/>
          <p:cNvSpPr/>
          <p:nvPr/>
        </p:nvSpPr>
        <p:spPr>
          <a:xfrm>
            <a:off x="2103120" y="1371600"/>
            <a:ext cx="1554480" cy="1005840"/>
          </a:xfrm>
          <a:prstGeom prst="rect">
            <a:avLst/>
          </a:prstGeom>
          <a:solidFill>
            <a:srgbClr val="1E3A5F"/>
          </a:solidFill>
          <a:ln/>
          <a:effectLst>
            <a:outerShdw sx="100000" sy="100000" kx="0" ky="0" algn="bl" rotWithShape="0" blurRad="50800" dist="25400" dir="8100000">
              <a:srgbClr val="000000">
                <a:alpha val="8000"/>
              </a:srgbClr>
            </a:outerShdw>
          </a:effectLst>
        </p:spPr>
      </p:sp>
      <p:sp>
        <p:nvSpPr>
          <p:cNvPr id="8" name="Text 6"/>
          <p:cNvSpPr/>
          <p:nvPr/>
        </p:nvSpPr>
        <p:spPr>
          <a:xfrm>
            <a:off x="2194560" y="141732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FastAPI</a:t>
            </a:r>
            <a:endParaRPr lang="en-US" sz="1100" dirty="0"/>
          </a:p>
        </p:txBody>
      </p:sp>
      <p:sp>
        <p:nvSpPr>
          <p:cNvPr id="9" name="Text 7"/>
          <p:cNvSpPr/>
          <p:nvPr/>
        </p:nvSpPr>
        <p:spPr>
          <a:xfrm>
            <a:off x="2194560" y="201168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Backend</a:t>
            </a:r>
            <a:endParaRPr lang="en-US" sz="900" dirty="0"/>
          </a:p>
        </p:txBody>
      </p:sp>
      <p:sp>
        <p:nvSpPr>
          <p:cNvPr id="10" name="Shape 8"/>
          <p:cNvSpPr/>
          <p:nvPr/>
        </p:nvSpPr>
        <p:spPr>
          <a:xfrm>
            <a:off x="3931920" y="1371600"/>
            <a:ext cx="1554480" cy="1005840"/>
          </a:xfrm>
          <a:prstGeom prst="rect">
            <a:avLst/>
          </a:prstGeom>
          <a:solidFill>
            <a:srgbClr val="7C3AED"/>
          </a:solidFill>
          <a:ln/>
          <a:effectLst>
            <a:outerShdw sx="100000" sy="100000" kx="0" ky="0" algn="bl" rotWithShape="0" blurRad="50800" dist="25400" dir="8100000">
              <a:srgbClr val="000000">
                <a:alpha val="8000"/>
              </a:srgbClr>
            </a:outerShdw>
          </a:effectLst>
        </p:spPr>
      </p:sp>
      <p:sp>
        <p:nvSpPr>
          <p:cNvPr id="11" name="Text 9"/>
          <p:cNvSpPr/>
          <p:nvPr/>
        </p:nvSpPr>
        <p:spPr>
          <a:xfrm>
            <a:off x="4023360" y="141732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Query</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Expansion</a:t>
            </a:r>
            <a:endParaRPr lang="en-US" sz="1100" dirty="0"/>
          </a:p>
        </p:txBody>
      </p:sp>
      <p:sp>
        <p:nvSpPr>
          <p:cNvPr id="12" name="Text 10"/>
          <p:cNvSpPr/>
          <p:nvPr/>
        </p:nvSpPr>
        <p:spPr>
          <a:xfrm>
            <a:off x="4023360" y="201168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Groq LLM</a:t>
            </a:r>
            <a:endParaRPr lang="en-US" sz="900" dirty="0"/>
          </a:p>
        </p:txBody>
      </p:sp>
      <p:sp>
        <p:nvSpPr>
          <p:cNvPr id="13" name="Shape 11"/>
          <p:cNvSpPr/>
          <p:nvPr/>
        </p:nvSpPr>
        <p:spPr>
          <a:xfrm>
            <a:off x="5760720" y="1371600"/>
            <a:ext cx="1554480" cy="1005840"/>
          </a:xfrm>
          <a:prstGeom prst="rect">
            <a:avLst/>
          </a:prstGeom>
          <a:solidFill>
            <a:srgbClr val="0D9488"/>
          </a:solidFill>
          <a:ln/>
          <a:effectLst>
            <a:outerShdw sx="100000" sy="100000" kx="0" ky="0" algn="bl" rotWithShape="0" blurRad="50800" dist="25400" dir="8100000">
              <a:srgbClr val="000000">
                <a:alpha val="8000"/>
              </a:srgbClr>
            </a:outerShdw>
          </a:effectLst>
        </p:spPr>
      </p:sp>
      <p:sp>
        <p:nvSpPr>
          <p:cNvPr id="14" name="Text 12"/>
          <p:cNvSpPr/>
          <p:nvPr/>
        </p:nvSpPr>
        <p:spPr>
          <a:xfrm>
            <a:off x="5852160" y="141732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Embedding</a:t>
            </a:r>
            <a:endParaRPr lang="en-US" sz="1100" dirty="0"/>
          </a:p>
        </p:txBody>
      </p:sp>
      <p:sp>
        <p:nvSpPr>
          <p:cNvPr id="15" name="Text 13"/>
          <p:cNvSpPr/>
          <p:nvPr/>
        </p:nvSpPr>
        <p:spPr>
          <a:xfrm>
            <a:off x="5852160" y="201168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BGE v1.5</a:t>
            </a:r>
            <a:endParaRPr lang="en-US" sz="900" dirty="0"/>
          </a:p>
        </p:txBody>
      </p:sp>
      <p:sp>
        <p:nvSpPr>
          <p:cNvPr id="16" name="Shape 14"/>
          <p:cNvSpPr/>
          <p:nvPr/>
        </p:nvSpPr>
        <p:spPr>
          <a:xfrm>
            <a:off x="7589520" y="1371600"/>
            <a:ext cx="1554480" cy="1005840"/>
          </a:xfrm>
          <a:prstGeom prst="rect">
            <a:avLst/>
          </a:prstGeom>
          <a:solidFill>
            <a:srgbClr val="1E3A5F"/>
          </a:solidFill>
          <a:ln/>
          <a:effectLst>
            <a:outerShdw sx="100000" sy="100000" kx="0" ky="0" algn="bl" rotWithShape="0" blurRad="50800" dist="25400" dir="8100000">
              <a:srgbClr val="000000">
                <a:alpha val="8000"/>
              </a:srgbClr>
            </a:outerShdw>
          </a:effectLst>
        </p:spPr>
      </p:sp>
      <p:sp>
        <p:nvSpPr>
          <p:cNvPr id="17" name="Text 15"/>
          <p:cNvSpPr/>
          <p:nvPr/>
        </p:nvSpPr>
        <p:spPr>
          <a:xfrm>
            <a:off x="7680960" y="141732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ChromaDB</a:t>
            </a:r>
            <a:endParaRPr lang="en-US" sz="1100" dirty="0"/>
          </a:p>
        </p:txBody>
      </p:sp>
      <p:sp>
        <p:nvSpPr>
          <p:cNvPr id="18" name="Text 16"/>
          <p:cNvSpPr/>
          <p:nvPr/>
        </p:nvSpPr>
        <p:spPr>
          <a:xfrm>
            <a:off x="7680960" y="201168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Vector Store</a:t>
            </a:r>
            <a:endParaRPr lang="en-US" sz="900" dirty="0"/>
          </a:p>
        </p:txBody>
      </p:sp>
      <p:sp>
        <p:nvSpPr>
          <p:cNvPr id="19" name="Shape 17"/>
          <p:cNvSpPr/>
          <p:nvPr/>
        </p:nvSpPr>
        <p:spPr>
          <a:xfrm>
            <a:off x="1828800" y="1874520"/>
            <a:ext cx="548640" cy="0"/>
          </a:xfrm>
          <a:prstGeom prst="line">
            <a:avLst/>
          </a:prstGeom>
          <a:noFill/>
          <a:ln w="19050">
            <a:solidFill>
              <a:srgbClr val="64748B"/>
            </a:solidFill>
            <a:prstDash val="solid"/>
          </a:ln>
        </p:spPr>
      </p:sp>
      <p:sp>
        <p:nvSpPr>
          <p:cNvPr id="20" name="Shape 18"/>
          <p:cNvSpPr/>
          <p:nvPr/>
        </p:nvSpPr>
        <p:spPr>
          <a:xfrm>
            <a:off x="3657600" y="1874520"/>
            <a:ext cx="548640" cy="0"/>
          </a:xfrm>
          <a:prstGeom prst="line">
            <a:avLst/>
          </a:prstGeom>
          <a:noFill/>
          <a:ln w="19050">
            <a:solidFill>
              <a:srgbClr val="64748B"/>
            </a:solidFill>
            <a:prstDash val="solid"/>
          </a:ln>
        </p:spPr>
      </p:sp>
      <p:sp>
        <p:nvSpPr>
          <p:cNvPr id="21" name="Shape 19"/>
          <p:cNvSpPr/>
          <p:nvPr/>
        </p:nvSpPr>
        <p:spPr>
          <a:xfrm>
            <a:off x="5486400" y="1874520"/>
            <a:ext cx="548640" cy="0"/>
          </a:xfrm>
          <a:prstGeom prst="line">
            <a:avLst/>
          </a:prstGeom>
          <a:noFill/>
          <a:ln w="19050">
            <a:solidFill>
              <a:srgbClr val="64748B"/>
            </a:solidFill>
            <a:prstDash val="solid"/>
          </a:ln>
        </p:spPr>
      </p:sp>
      <p:sp>
        <p:nvSpPr>
          <p:cNvPr id="22" name="Shape 20"/>
          <p:cNvSpPr/>
          <p:nvPr/>
        </p:nvSpPr>
        <p:spPr>
          <a:xfrm>
            <a:off x="7315200" y="1874520"/>
            <a:ext cx="548640" cy="0"/>
          </a:xfrm>
          <a:prstGeom prst="line">
            <a:avLst/>
          </a:prstGeom>
          <a:noFill/>
          <a:ln w="19050">
            <a:solidFill>
              <a:srgbClr val="64748B"/>
            </a:solidFill>
            <a:prstDash val="solid"/>
          </a:ln>
        </p:spPr>
      </p:sp>
      <p:sp>
        <p:nvSpPr>
          <p:cNvPr id="23" name="Shape 21"/>
          <p:cNvSpPr/>
          <p:nvPr/>
        </p:nvSpPr>
        <p:spPr>
          <a:xfrm>
            <a:off x="274320" y="3017520"/>
            <a:ext cx="1554480" cy="1005840"/>
          </a:xfrm>
          <a:prstGeom prst="rect">
            <a:avLst/>
          </a:prstGeom>
          <a:solidFill>
            <a:srgbClr val="3B82F6"/>
          </a:solidFill>
          <a:ln/>
          <a:effectLst>
            <a:outerShdw sx="100000" sy="100000" kx="0" ky="0" algn="bl" rotWithShape="0" blurRad="50800" dist="25400" dir="8100000">
              <a:srgbClr val="000000">
                <a:alpha val="8000"/>
              </a:srgbClr>
            </a:outerShdw>
          </a:effectLst>
        </p:spPr>
      </p:sp>
      <p:sp>
        <p:nvSpPr>
          <p:cNvPr id="24" name="Text 22"/>
          <p:cNvSpPr/>
          <p:nvPr/>
        </p:nvSpPr>
        <p:spPr>
          <a:xfrm>
            <a:off x="365760" y="306324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Response</a:t>
            </a:r>
            <a:endParaRPr lang="en-US" sz="1100" dirty="0"/>
          </a:p>
        </p:txBody>
      </p:sp>
      <p:sp>
        <p:nvSpPr>
          <p:cNvPr id="25" name="Text 23"/>
          <p:cNvSpPr/>
          <p:nvPr/>
        </p:nvSpPr>
        <p:spPr>
          <a:xfrm>
            <a:off x="365760" y="365760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JSON + Sources</a:t>
            </a:r>
            <a:endParaRPr lang="en-US" sz="900" dirty="0"/>
          </a:p>
        </p:txBody>
      </p:sp>
      <p:sp>
        <p:nvSpPr>
          <p:cNvPr id="26" name="Shape 24"/>
          <p:cNvSpPr/>
          <p:nvPr/>
        </p:nvSpPr>
        <p:spPr>
          <a:xfrm>
            <a:off x="2103120" y="3017520"/>
            <a:ext cx="1554480" cy="1005840"/>
          </a:xfrm>
          <a:prstGeom prst="rect">
            <a:avLst/>
          </a:prstGeom>
          <a:solidFill>
            <a:srgbClr val="7C3AED"/>
          </a:solidFill>
          <a:ln/>
          <a:effectLst>
            <a:outerShdw sx="100000" sy="100000" kx="0" ky="0" algn="bl" rotWithShape="0" blurRad="50800" dist="25400" dir="8100000">
              <a:srgbClr val="000000">
                <a:alpha val="8000"/>
              </a:srgbClr>
            </a:outerShdw>
          </a:effectLst>
        </p:spPr>
      </p:sp>
      <p:sp>
        <p:nvSpPr>
          <p:cNvPr id="27" name="Text 25"/>
          <p:cNvSpPr/>
          <p:nvPr/>
        </p:nvSpPr>
        <p:spPr>
          <a:xfrm>
            <a:off x="2194560" y="306324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LLM</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Generation</a:t>
            </a:r>
            <a:endParaRPr lang="en-US" sz="1100" dirty="0"/>
          </a:p>
        </p:txBody>
      </p:sp>
      <p:sp>
        <p:nvSpPr>
          <p:cNvPr id="28" name="Text 26"/>
          <p:cNvSpPr/>
          <p:nvPr/>
        </p:nvSpPr>
        <p:spPr>
          <a:xfrm>
            <a:off x="2194560" y="365760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Llama 3.3 70B</a:t>
            </a:r>
            <a:endParaRPr lang="en-US" sz="900" dirty="0"/>
          </a:p>
        </p:txBody>
      </p:sp>
      <p:sp>
        <p:nvSpPr>
          <p:cNvPr id="29" name="Shape 27"/>
          <p:cNvSpPr/>
          <p:nvPr/>
        </p:nvSpPr>
        <p:spPr>
          <a:xfrm>
            <a:off x="3931920" y="3017520"/>
            <a:ext cx="1554480" cy="1005840"/>
          </a:xfrm>
          <a:prstGeom prst="rect">
            <a:avLst/>
          </a:prstGeom>
          <a:solidFill>
            <a:srgbClr val="0D9488"/>
          </a:solidFill>
          <a:ln/>
          <a:effectLst>
            <a:outerShdw sx="100000" sy="100000" kx="0" ky="0" algn="bl" rotWithShape="0" blurRad="50800" dist="25400" dir="8100000">
              <a:srgbClr val="000000">
                <a:alpha val="8000"/>
              </a:srgbClr>
            </a:outerShdw>
          </a:effectLst>
        </p:spPr>
      </p:sp>
      <p:sp>
        <p:nvSpPr>
          <p:cNvPr id="30" name="Text 28"/>
          <p:cNvSpPr/>
          <p:nvPr/>
        </p:nvSpPr>
        <p:spPr>
          <a:xfrm>
            <a:off x="4023360" y="306324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Context</a:t>
            </a:r>
            <a:endParaRPr lang="en-US" sz="1100" dirty="0"/>
          </a:p>
          <a:p>
            <a:pPr algn="ctr" indent="0" marL="0">
              <a:buNone/>
            </a:pPr>
            <a:r>
              <a:rPr lang="en-US" sz="1100" b="1" dirty="0">
                <a:solidFill>
                  <a:srgbClr val="FFFFFF"/>
                </a:solidFill>
                <a:latin typeface="Trebuchet MS" pitchFamily="34" charset="0"/>
                <a:ea typeface="Trebuchet MS" pitchFamily="34" charset="-122"/>
                <a:cs typeface="Trebuchet MS" pitchFamily="34" charset="-120"/>
              </a:rPr>
              <a:t>Builder</a:t>
            </a:r>
            <a:endParaRPr lang="en-US" sz="1100" dirty="0"/>
          </a:p>
        </p:txBody>
      </p:sp>
      <p:sp>
        <p:nvSpPr>
          <p:cNvPr id="31" name="Text 29"/>
          <p:cNvSpPr/>
          <p:nvPr/>
        </p:nvSpPr>
        <p:spPr>
          <a:xfrm>
            <a:off x="4023360" y="365760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Prompt + History</a:t>
            </a:r>
            <a:endParaRPr lang="en-US" sz="900" dirty="0"/>
          </a:p>
        </p:txBody>
      </p:sp>
      <p:sp>
        <p:nvSpPr>
          <p:cNvPr id="32" name="Shape 30"/>
          <p:cNvSpPr/>
          <p:nvPr/>
        </p:nvSpPr>
        <p:spPr>
          <a:xfrm>
            <a:off x="5760720" y="3017520"/>
            <a:ext cx="1554480" cy="1005840"/>
          </a:xfrm>
          <a:prstGeom prst="rect">
            <a:avLst/>
          </a:prstGeom>
          <a:solidFill>
            <a:srgbClr val="1E3A5F"/>
          </a:solidFill>
          <a:ln/>
          <a:effectLst>
            <a:outerShdw sx="100000" sy="100000" kx="0" ky="0" algn="bl" rotWithShape="0" blurRad="50800" dist="25400" dir="8100000">
              <a:srgbClr val="000000">
                <a:alpha val="8000"/>
              </a:srgbClr>
            </a:outerShdw>
          </a:effectLst>
        </p:spPr>
      </p:sp>
      <p:sp>
        <p:nvSpPr>
          <p:cNvPr id="33" name="Text 31"/>
          <p:cNvSpPr/>
          <p:nvPr/>
        </p:nvSpPr>
        <p:spPr>
          <a:xfrm>
            <a:off x="5852160" y="306324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Retrieval</a:t>
            </a:r>
            <a:endParaRPr lang="en-US" sz="1100" dirty="0"/>
          </a:p>
        </p:txBody>
      </p:sp>
      <p:sp>
        <p:nvSpPr>
          <p:cNvPr id="34" name="Text 32"/>
          <p:cNvSpPr/>
          <p:nvPr/>
        </p:nvSpPr>
        <p:spPr>
          <a:xfrm>
            <a:off x="5852160" y="365760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Top 12 Chunks</a:t>
            </a:r>
            <a:endParaRPr lang="en-US" sz="900" dirty="0"/>
          </a:p>
        </p:txBody>
      </p:sp>
      <p:sp>
        <p:nvSpPr>
          <p:cNvPr id="35" name="Shape 33"/>
          <p:cNvSpPr/>
          <p:nvPr/>
        </p:nvSpPr>
        <p:spPr>
          <a:xfrm>
            <a:off x="7589520" y="3017520"/>
            <a:ext cx="1554480" cy="1005840"/>
          </a:xfrm>
          <a:prstGeom prst="rect">
            <a:avLst/>
          </a:prstGeom>
          <a:solidFill>
            <a:srgbClr val="7C3AED"/>
          </a:solidFill>
          <a:ln/>
          <a:effectLst>
            <a:outerShdw sx="100000" sy="100000" kx="0" ky="0" algn="bl" rotWithShape="0" blurRad="50800" dist="25400" dir="8100000">
              <a:srgbClr val="000000">
                <a:alpha val="8000"/>
              </a:srgbClr>
            </a:outerShdw>
          </a:effectLst>
        </p:spPr>
      </p:sp>
      <p:sp>
        <p:nvSpPr>
          <p:cNvPr id="36" name="Text 34"/>
          <p:cNvSpPr/>
          <p:nvPr/>
        </p:nvSpPr>
        <p:spPr>
          <a:xfrm>
            <a:off x="7680960" y="3063240"/>
            <a:ext cx="13716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SQLite</a:t>
            </a:r>
            <a:endParaRPr lang="en-US" sz="1100" dirty="0"/>
          </a:p>
        </p:txBody>
      </p:sp>
      <p:sp>
        <p:nvSpPr>
          <p:cNvPr id="37" name="Text 35"/>
          <p:cNvSpPr/>
          <p:nvPr/>
        </p:nvSpPr>
        <p:spPr>
          <a:xfrm>
            <a:off x="7680960" y="3657600"/>
            <a:ext cx="1371600" cy="274320"/>
          </a:xfrm>
          <a:prstGeom prst="rect">
            <a:avLst/>
          </a:prstGeom>
          <a:noFill/>
          <a:ln/>
        </p:spPr>
        <p:txBody>
          <a:bodyPr wrap="square" lIns="0" tIns="0" rIns="0" bIns="0" rtlCol="0" anchor="ctr"/>
          <a:lstStyle/>
          <a:p>
            <a:pPr algn="ctr" indent="0" marL="0">
              <a:buNone/>
            </a:pPr>
            <a:r>
              <a:rPr lang="en-US" sz="900" dirty="0">
                <a:solidFill>
                  <a:srgbClr val="D4DCE8"/>
                </a:solidFill>
                <a:latin typeface="Calibri" pitchFamily="34" charset="0"/>
                <a:ea typeface="Calibri" pitchFamily="34" charset="-122"/>
                <a:cs typeface="Calibri" pitchFamily="34" charset="-120"/>
              </a:rPr>
              <a:t>Chat History</a:t>
            </a:r>
            <a:endParaRPr lang="en-US" sz="900" dirty="0"/>
          </a:p>
        </p:txBody>
      </p:sp>
      <p:sp>
        <p:nvSpPr>
          <p:cNvPr id="38" name="Shape 36"/>
          <p:cNvSpPr/>
          <p:nvPr/>
        </p:nvSpPr>
        <p:spPr>
          <a:xfrm>
            <a:off x="7040880" y="3520440"/>
            <a:ext cx="548640" cy="0"/>
          </a:xfrm>
          <a:prstGeom prst="line">
            <a:avLst/>
          </a:prstGeom>
          <a:noFill/>
          <a:ln w="19050">
            <a:solidFill>
              <a:srgbClr val="64748B"/>
            </a:solidFill>
            <a:prstDash val="solid"/>
          </a:ln>
        </p:spPr>
      </p:sp>
      <p:sp>
        <p:nvSpPr>
          <p:cNvPr id="39" name="Shape 37"/>
          <p:cNvSpPr/>
          <p:nvPr/>
        </p:nvSpPr>
        <p:spPr>
          <a:xfrm>
            <a:off x="5212080" y="3520440"/>
            <a:ext cx="548640" cy="0"/>
          </a:xfrm>
          <a:prstGeom prst="line">
            <a:avLst/>
          </a:prstGeom>
          <a:noFill/>
          <a:ln w="19050">
            <a:solidFill>
              <a:srgbClr val="64748B"/>
            </a:solidFill>
            <a:prstDash val="solid"/>
          </a:ln>
        </p:spPr>
      </p:sp>
      <p:sp>
        <p:nvSpPr>
          <p:cNvPr id="40" name="Shape 38"/>
          <p:cNvSpPr/>
          <p:nvPr/>
        </p:nvSpPr>
        <p:spPr>
          <a:xfrm>
            <a:off x="3383280" y="3520440"/>
            <a:ext cx="548640" cy="0"/>
          </a:xfrm>
          <a:prstGeom prst="line">
            <a:avLst/>
          </a:prstGeom>
          <a:noFill/>
          <a:ln w="19050">
            <a:solidFill>
              <a:srgbClr val="64748B"/>
            </a:solidFill>
            <a:prstDash val="solid"/>
          </a:ln>
        </p:spPr>
      </p:sp>
      <p:sp>
        <p:nvSpPr>
          <p:cNvPr id="41" name="Shape 39"/>
          <p:cNvSpPr/>
          <p:nvPr/>
        </p:nvSpPr>
        <p:spPr>
          <a:xfrm>
            <a:off x="1554480" y="3520440"/>
            <a:ext cx="548640" cy="0"/>
          </a:xfrm>
          <a:prstGeom prst="line">
            <a:avLst/>
          </a:prstGeom>
          <a:noFill/>
          <a:ln w="19050">
            <a:solidFill>
              <a:srgbClr val="64748B"/>
            </a:solidFill>
            <a:prstDash val="solid"/>
          </a:ln>
        </p:spPr>
      </p:sp>
      <p:sp>
        <p:nvSpPr>
          <p:cNvPr id="42" name="Shape 40"/>
          <p:cNvSpPr/>
          <p:nvPr/>
        </p:nvSpPr>
        <p:spPr>
          <a:xfrm>
            <a:off x="8366760" y="2377440"/>
            <a:ext cx="0" cy="640080"/>
          </a:xfrm>
          <a:prstGeom prst="line">
            <a:avLst/>
          </a:prstGeom>
          <a:noFill/>
          <a:ln w="19050">
            <a:solidFill>
              <a:srgbClr val="64748B"/>
            </a:solidFill>
            <a:prstDash val="solid"/>
          </a:ln>
        </p:spPr>
      </p:sp>
      <p:sp>
        <p:nvSpPr>
          <p:cNvPr id="43" name="Shape 41"/>
          <p:cNvSpPr/>
          <p:nvPr/>
        </p:nvSpPr>
        <p:spPr>
          <a:xfrm>
            <a:off x="1051560" y="2377440"/>
            <a:ext cx="0" cy="640080"/>
          </a:xfrm>
          <a:prstGeom prst="line">
            <a:avLst/>
          </a:prstGeom>
          <a:noFill/>
          <a:ln w="19050">
            <a:solidFill>
              <a:srgbClr val="64748B"/>
            </a:solidFill>
            <a:prstDash val="dash"/>
          </a:ln>
        </p:spPr>
      </p:sp>
      <p:sp>
        <p:nvSpPr>
          <p:cNvPr id="44" name="Text 42"/>
          <p:cNvSpPr/>
          <p:nvPr/>
        </p:nvSpPr>
        <p:spPr>
          <a:xfrm>
            <a:off x="274320" y="1097280"/>
            <a:ext cx="1828800" cy="274320"/>
          </a:xfrm>
          <a:prstGeom prst="rect">
            <a:avLst/>
          </a:prstGeom>
          <a:noFill/>
          <a:ln/>
        </p:spPr>
        <p:txBody>
          <a:bodyPr wrap="square" lIns="0" tIns="0" rIns="0" bIns="0" rtlCol="0" anchor="ctr"/>
          <a:lstStyle/>
          <a:p>
            <a:pPr indent="0" marL="0">
              <a:buNone/>
            </a:pPr>
            <a:r>
              <a:rPr lang="en-US" sz="1000" b="1" dirty="0">
                <a:solidFill>
                  <a:srgbClr val="3B82F6"/>
                </a:solidFill>
                <a:latin typeface="Calibri" pitchFamily="34" charset="0"/>
                <a:ea typeface="Calibri" pitchFamily="34" charset="-122"/>
                <a:cs typeface="Calibri" pitchFamily="34" charset="-120"/>
              </a:rPr>
              <a:t>Query Flow</a:t>
            </a:r>
            <a:endParaRPr lang="en-US" sz="1000" dirty="0"/>
          </a:p>
        </p:txBody>
      </p:sp>
      <p:sp>
        <p:nvSpPr>
          <p:cNvPr id="45" name="Text 43"/>
          <p:cNvSpPr/>
          <p:nvPr/>
        </p:nvSpPr>
        <p:spPr>
          <a:xfrm>
            <a:off x="274320" y="2743200"/>
            <a:ext cx="1828800" cy="274320"/>
          </a:xfrm>
          <a:prstGeom prst="rect">
            <a:avLst/>
          </a:prstGeom>
          <a:noFill/>
          <a:ln/>
        </p:spPr>
        <p:txBody>
          <a:bodyPr wrap="square" lIns="0" tIns="0" rIns="0" bIns="0" rtlCol="0" anchor="ctr"/>
          <a:lstStyle/>
          <a:p>
            <a:pPr indent="0" marL="0">
              <a:buNone/>
            </a:pPr>
            <a:r>
              <a:rPr lang="en-US" sz="1000" b="1" dirty="0">
                <a:solidFill>
                  <a:srgbClr val="7C3AED"/>
                </a:solidFill>
                <a:latin typeface="Calibri" pitchFamily="34" charset="0"/>
                <a:ea typeface="Calibri" pitchFamily="34" charset="-122"/>
                <a:cs typeface="Calibri" pitchFamily="34" charset="-120"/>
              </a:rPr>
              <a:t>Response Flow</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Methodology: RAG Pipeline</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548640" y="1124712"/>
            <a:ext cx="365760" cy="365760"/>
          </a:xfrm>
          <a:prstGeom prst="ellipse">
            <a:avLst/>
          </a:prstGeom>
          <a:solidFill>
            <a:srgbClr val="3B82F6"/>
          </a:solidFill>
          <a:ln/>
        </p:spPr>
      </p:sp>
      <p:sp>
        <p:nvSpPr>
          <p:cNvPr id="5" name="Text 3"/>
          <p:cNvSpPr/>
          <p:nvPr/>
        </p:nvSpPr>
        <p:spPr>
          <a:xfrm>
            <a:off x="548640" y="112471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6" name="Text 4"/>
          <p:cNvSpPr/>
          <p:nvPr/>
        </p:nvSpPr>
        <p:spPr>
          <a:xfrm>
            <a:off x="1097280" y="1051560"/>
            <a:ext cx="27432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Document Ingestion</a:t>
            </a:r>
            <a:endParaRPr lang="en-US" sz="1300" dirty="0"/>
          </a:p>
        </p:txBody>
      </p:sp>
      <p:sp>
        <p:nvSpPr>
          <p:cNvPr id="7" name="Text 5"/>
          <p:cNvSpPr/>
          <p:nvPr/>
        </p:nvSpPr>
        <p:spPr>
          <a:xfrm>
            <a:off x="1097280" y="1325880"/>
            <a:ext cx="75895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PDFs and text files are uploaded via a staff panel or placed in the data directory. Text is extracted using pypdf for PDFs and direct file reading for .txt files. Scanned PDFs are handled with strict=False fallback.</a:t>
            </a:r>
            <a:endParaRPr lang="en-US" sz="1000" dirty="0"/>
          </a:p>
        </p:txBody>
      </p:sp>
      <p:sp>
        <p:nvSpPr>
          <p:cNvPr id="8" name="Shape 6"/>
          <p:cNvSpPr/>
          <p:nvPr/>
        </p:nvSpPr>
        <p:spPr>
          <a:xfrm>
            <a:off x="548640" y="1929384"/>
            <a:ext cx="365760" cy="365760"/>
          </a:xfrm>
          <a:prstGeom prst="ellipse">
            <a:avLst/>
          </a:prstGeom>
          <a:solidFill>
            <a:srgbClr val="3B82F6"/>
          </a:solidFill>
          <a:ln/>
        </p:spPr>
      </p:sp>
      <p:sp>
        <p:nvSpPr>
          <p:cNvPr id="9" name="Text 7"/>
          <p:cNvSpPr/>
          <p:nvPr/>
        </p:nvSpPr>
        <p:spPr>
          <a:xfrm>
            <a:off x="548640" y="19293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0" name="Text 8"/>
          <p:cNvSpPr/>
          <p:nvPr/>
        </p:nvSpPr>
        <p:spPr>
          <a:xfrm>
            <a:off x="1097280" y="1856232"/>
            <a:ext cx="27432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Intelligent Chunking</a:t>
            </a:r>
            <a:endParaRPr lang="en-US" sz="1300" dirty="0"/>
          </a:p>
        </p:txBody>
      </p:sp>
      <p:sp>
        <p:nvSpPr>
          <p:cNvPr id="11" name="Text 9"/>
          <p:cNvSpPr/>
          <p:nvPr/>
        </p:nvSpPr>
        <p:spPr>
          <a:xfrm>
            <a:off x="1097280" y="2130552"/>
            <a:ext cx="75895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Extracted text is split into ~800 character chunks with 150 character overlap. Short lines (table rows, names) are merged together to preserve context. Section-aware summary chunks are created for key topics like faculty, PhD, placements.</a:t>
            </a:r>
            <a:endParaRPr lang="en-US" sz="1000" dirty="0"/>
          </a:p>
        </p:txBody>
      </p:sp>
      <p:sp>
        <p:nvSpPr>
          <p:cNvPr id="12" name="Shape 10"/>
          <p:cNvSpPr/>
          <p:nvPr/>
        </p:nvSpPr>
        <p:spPr>
          <a:xfrm>
            <a:off x="548640" y="2734056"/>
            <a:ext cx="365760" cy="365760"/>
          </a:xfrm>
          <a:prstGeom prst="ellipse">
            <a:avLst/>
          </a:prstGeom>
          <a:solidFill>
            <a:srgbClr val="3B82F6"/>
          </a:solidFill>
          <a:ln/>
        </p:spPr>
      </p:sp>
      <p:sp>
        <p:nvSpPr>
          <p:cNvPr id="13" name="Text 11"/>
          <p:cNvSpPr/>
          <p:nvPr/>
        </p:nvSpPr>
        <p:spPr>
          <a:xfrm>
            <a:off x="548640" y="273405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14" name="Text 12"/>
          <p:cNvSpPr/>
          <p:nvPr/>
        </p:nvSpPr>
        <p:spPr>
          <a:xfrm>
            <a:off x="1097280" y="2660904"/>
            <a:ext cx="27432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Embedding &amp; Indexing</a:t>
            </a:r>
            <a:endParaRPr lang="en-US" sz="1300" dirty="0"/>
          </a:p>
        </p:txBody>
      </p:sp>
      <p:sp>
        <p:nvSpPr>
          <p:cNvPr id="15" name="Text 13"/>
          <p:cNvSpPr/>
          <p:nvPr/>
        </p:nvSpPr>
        <p:spPr>
          <a:xfrm>
            <a:off x="1097280" y="2935224"/>
            <a:ext cx="75895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Each chunk is converted to a 768-dimensional vector using BAAI/bge-base-en-v1.5 sentence transformer model. Vectors are stored in ChromaDB persistent collection with source metadata.</a:t>
            </a:r>
            <a:endParaRPr lang="en-US" sz="1000" dirty="0"/>
          </a:p>
        </p:txBody>
      </p:sp>
      <p:sp>
        <p:nvSpPr>
          <p:cNvPr id="16" name="Shape 14"/>
          <p:cNvSpPr/>
          <p:nvPr/>
        </p:nvSpPr>
        <p:spPr>
          <a:xfrm>
            <a:off x="548640" y="3538728"/>
            <a:ext cx="365760" cy="365760"/>
          </a:xfrm>
          <a:prstGeom prst="ellipse">
            <a:avLst/>
          </a:prstGeom>
          <a:solidFill>
            <a:srgbClr val="3B82F6"/>
          </a:solidFill>
          <a:ln/>
        </p:spPr>
      </p:sp>
      <p:sp>
        <p:nvSpPr>
          <p:cNvPr id="17" name="Text 15"/>
          <p:cNvSpPr/>
          <p:nvPr/>
        </p:nvSpPr>
        <p:spPr>
          <a:xfrm>
            <a:off x="548640" y="35387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18" name="Text 16"/>
          <p:cNvSpPr/>
          <p:nvPr/>
        </p:nvSpPr>
        <p:spPr>
          <a:xfrm>
            <a:off x="1097280" y="3465576"/>
            <a:ext cx="27432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Query &amp; Retrieval</a:t>
            </a:r>
            <a:endParaRPr lang="en-US" sz="1300" dirty="0"/>
          </a:p>
        </p:txBody>
      </p:sp>
      <p:sp>
        <p:nvSpPr>
          <p:cNvPr id="19" name="Text 17"/>
          <p:cNvSpPr/>
          <p:nvPr/>
        </p:nvSpPr>
        <p:spPr>
          <a:xfrm>
            <a:off x="1097280" y="3739896"/>
            <a:ext cx="75895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User query is expanded using LLM for better coverage. Hybrid search combines semantic similarity (cosine distance) with keyword filtering. Top 12 unique chunks are retrieved after deduplication.</a:t>
            </a:r>
            <a:endParaRPr lang="en-US" sz="1000" dirty="0"/>
          </a:p>
        </p:txBody>
      </p:sp>
      <p:sp>
        <p:nvSpPr>
          <p:cNvPr id="20" name="Shape 18"/>
          <p:cNvSpPr/>
          <p:nvPr/>
        </p:nvSpPr>
        <p:spPr>
          <a:xfrm>
            <a:off x="548640" y="4343400"/>
            <a:ext cx="365760" cy="365760"/>
          </a:xfrm>
          <a:prstGeom prst="ellipse">
            <a:avLst/>
          </a:prstGeom>
          <a:solidFill>
            <a:srgbClr val="3B82F6"/>
          </a:solidFill>
          <a:ln/>
        </p:spPr>
      </p:sp>
      <p:sp>
        <p:nvSpPr>
          <p:cNvPr id="21" name="Text 19"/>
          <p:cNvSpPr/>
          <p:nvPr/>
        </p:nvSpPr>
        <p:spPr>
          <a:xfrm>
            <a:off x="548640" y="43434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5</a:t>
            </a:r>
            <a:endParaRPr lang="en-US" sz="1400" dirty="0"/>
          </a:p>
        </p:txBody>
      </p:sp>
      <p:sp>
        <p:nvSpPr>
          <p:cNvPr id="22" name="Text 20"/>
          <p:cNvSpPr/>
          <p:nvPr/>
        </p:nvSpPr>
        <p:spPr>
          <a:xfrm>
            <a:off x="1097280" y="4270248"/>
            <a:ext cx="27432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Response Generation</a:t>
            </a:r>
            <a:endParaRPr lang="en-US" sz="1300" dirty="0"/>
          </a:p>
        </p:txBody>
      </p:sp>
      <p:sp>
        <p:nvSpPr>
          <p:cNvPr id="23" name="Text 21"/>
          <p:cNvSpPr/>
          <p:nvPr/>
        </p:nvSpPr>
        <p:spPr>
          <a:xfrm>
            <a:off x="1097280" y="4544568"/>
            <a:ext cx="75895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Retrieved chunks + conversation history are sent to Groq API (Llama 3.3 70B). The LLM generates a natural, grounded response. Both query and response are persisted in SQLite for conversation continuity.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Methodology: Retrieval Strategy</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457200" y="1188720"/>
            <a:ext cx="3931920" cy="347472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5" name="Text 3"/>
          <p:cNvSpPr/>
          <p:nvPr/>
        </p:nvSpPr>
        <p:spPr>
          <a:xfrm>
            <a:off x="731520" y="132588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Smart Chunking</a:t>
            </a:r>
            <a:endParaRPr lang="en-US" sz="1500" dirty="0"/>
          </a:p>
        </p:txBody>
      </p:sp>
      <p:sp>
        <p:nvSpPr>
          <p:cNvPr id="6" name="Text 4"/>
          <p:cNvSpPr/>
          <p:nvPr/>
        </p:nvSpPr>
        <p:spPr>
          <a:xfrm>
            <a:off x="731520" y="1737360"/>
            <a:ext cx="34747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Max chunk size: 800 characters</a:t>
            </a:r>
            <a:endParaRPr lang="en-US" sz="1000" dirty="0"/>
          </a:p>
        </p:txBody>
      </p:sp>
      <p:sp>
        <p:nvSpPr>
          <p:cNvPr id="7" name="Text 5"/>
          <p:cNvSpPr/>
          <p:nvPr/>
        </p:nvSpPr>
        <p:spPr>
          <a:xfrm>
            <a:off x="731520" y="2286000"/>
            <a:ext cx="34747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Overlap: 150 chars between chunks</a:t>
            </a:r>
            <a:endParaRPr lang="en-US" sz="1000" dirty="0"/>
          </a:p>
        </p:txBody>
      </p:sp>
      <p:sp>
        <p:nvSpPr>
          <p:cNvPr id="8" name="Text 6"/>
          <p:cNvSpPr/>
          <p:nvPr/>
        </p:nvSpPr>
        <p:spPr>
          <a:xfrm>
            <a:off x="731520" y="2834640"/>
            <a:ext cx="34747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Short lines merged (table rows, names)</a:t>
            </a:r>
            <a:endParaRPr lang="en-US" sz="1000" dirty="0"/>
          </a:p>
        </p:txBody>
      </p:sp>
      <p:sp>
        <p:nvSpPr>
          <p:cNvPr id="9" name="Text 7"/>
          <p:cNvSpPr/>
          <p:nvPr/>
        </p:nvSpPr>
        <p:spPr>
          <a:xfrm>
            <a:off x="731520" y="3383280"/>
            <a:ext cx="34747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Section headers kept with content</a:t>
            </a:r>
            <a:endParaRPr lang="en-US" sz="1000" dirty="0"/>
          </a:p>
        </p:txBody>
      </p:sp>
      <p:sp>
        <p:nvSpPr>
          <p:cNvPr id="10" name="Text 8"/>
          <p:cNvSpPr/>
          <p:nvPr/>
        </p:nvSpPr>
        <p:spPr>
          <a:xfrm>
            <a:off x="731520" y="3931920"/>
            <a:ext cx="3474720" cy="5029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Dedicated summary chunks for:</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 Faculty list</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 PhD produced</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 Research areas</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 Placements</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 Fee structure</a:t>
            </a:r>
            <a:endParaRPr lang="en-US" sz="1000" dirty="0"/>
          </a:p>
        </p:txBody>
      </p:sp>
      <p:sp>
        <p:nvSpPr>
          <p:cNvPr id="11" name="Shape 9"/>
          <p:cNvSpPr/>
          <p:nvPr/>
        </p:nvSpPr>
        <p:spPr>
          <a:xfrm>
            <a:off x="4754880" y="1188720"/>
            <a:ext cx="3931920" cy="347472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2" name="Text 10"/>
          <p:cNvSpPr/>
          <p:nvPr/>
        </p:nvSpPr>
        <p:spPr>
          <a:xfrm>
            <a:off x="5029200" y="1325880"/>
            <a:ext cx="3200400" cy="32004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Hybrid Search</a:t>
            </a:r>
            <a:endParaRPr lang="en-US" sz="1500" dirty="0"/>
          </a:p>
        </p:txBody>
      </p:sp>
      <p:sp>
        <p:nvSpPr>
          <p:cNvPr id="13" name="Text 11"/>
          <p:cNvSpPr/>
          <p:nvPr/>
        </p:nvSpPr>
        <p:spPr>
          <a:xfrm>
            <a:off x="5029200" y="1737360"/>
            <a:ext cx="3474720" cy="7315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Semantic Search:</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BGE embeddings + cosine similarity</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Retrieves contextually similar chunks</a:t>
            </a:r>
            <a:endParaRPr lang="en-US" sz="1000" dirty="0"/>
          </a:p>
        </p:txBody>
      </p:sp>
      <p:sp>
        <p:nvSpPr>
          <p:cNvPr id="14" name="Text 12"/>
          <p:cNvSpPr/>
          <p:nvPr/>
        </p:nvSpPr>
        <p:spPr>
          <a:xfrm>
            <a:off x="5029200" y="2560320"/>
            <a:ext cx="3474720" cy="7315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Keyword Search:</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Extracts important terms from query</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Filters chunks containing keywords</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Synonym expansion (HoD→head, etc.)</a:t>
            </a:r>
            <a:endParaRPr lang="en-US" sz="1000" dirty="0"/>
          </a:p>
        </p:txBody>
      </p:sp>
      <p:sp>
        <p:nvSpPr>
          <p:cNvPr id="15" name="Text 13"/>
          <p:cNvSpPr/>
          <p:nvPr/>
        </p:nvSpPr>
        <p:spPr>
          <a:xfrm>
            <a:off x="5029200" y="3383280"/>
            <a:ext cx="3474720" cy="7315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Query Expansion:</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LLM expands abbreviations</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Multiple search passes</a:t>
            </a:r>
            <a:endParaRPr lang="en-US" sz="1000" dirty="0"/>
          </a:p>
        </p:txBody>
      </p:sp>
      <p:sp>
        <p:nvSpPr>
          <p:cNvPr id="16" name="Text 14"/>
          <p:cNvSpPr/>
          <p:nvPr/>
        </p:nvSpPr>
        <p:spPr>
          <a:xfrm>
            <a:off x="5029200" y="4206240"/>
            <a:ext cx="3474720" cy="73152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Deduplication:</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Merges results, removes duplicates</a:t>
            </a:r>
            <a:endParaRPr lang="en-US" sz="1000" dirty="0"/>
          </a:p>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  Returns top 12 unique chunks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Methodology: LLM Integration</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457200" y="1188720"/>
            <a:ext cx="3931920" cy="182880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5" name="Text 3"/>
          <p:cNvSpPr/>
          <p:nvPr/>
        </p:nvSpPr>
        <p:spPr>
          <a:xfrm>
            <a:off x="731520" y="1325880"/>
            <a:ext cx="3474720" cy="32004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Groq API + Llama 3.3 70B</a:t>
            </a:r>
            <a:endParaRPr lang="en-US" sz="1400" dirty="0"/>
          </a:p>
        </p:txBody>
      </p:sp>
      <p:sp>
        <p:nvSpPr>
          <p:cNvPr id="6" name="Text 4"/>
          <p:cNvSpPr/>
          <p:nvPr/>
        </p:nvSpPr>
        <p:spPr>
          <a:xfrm>
            <a:off x="731520" y="1737360"/>
            <a:ext cx="3474720" cy="1188720"/>
          </a:xfrm>
          <a:prstGeom prst="rect">
            <a:avLst/>
          </a:prstGeom>
          <a:noFill/>
          <a:ln/>
        </p:spPr>
        <p:txBody>
          <a:bodyPr wrap="square" lIns="0" tIns="0" rIns="0" bIns="0" rtlCol="0" anchor="ctr"/>
          <a:lstStyle/>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Ultra-fast inference via Groq's LPU hardware.</a:t>
            </a:r>
            <a:endParaRPr lang="en-US" sz="1000" dirty="0"/>
          </a:p>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70 billion parameter model for strong reasoning.</a:t>
            </a:r>
            <a:endParaRPr lang="en-US" sz="1000" dirty="0"/>
          </a:p>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Free tier API with generous rate limits.</a:t>
            </a:r>
            <a:endParaRPr lang="en-US" sz="1000" dirty="0"/>
          </a:p>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System prompt defines chatbot persona.</a:t>
            </a:r>
            <a:endParaRPr lang="en-US" sz="1000" dirty="0"/>
          </a:p>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Minimal prompting — lets the LLM think naturally.</a:t>
            </a:r>
            <a:endParaRPr lang="en-US" sz="1000" dirty="0"/>
          </a:p>
        </p:txBody>
      </p:sp>
      <p:sp>
        <p:nvSpPr>
          <p:cNvPr id="7" name="Shape 5"/>
          <p:cNvSpPr/>
          <p:nvPr/>
        </p:nvSpPr>
        <p:spPr>
          <a:xfrm>
            <a:off x="4754880" y="1188720"/>
            <a:ext cx="3931920" cy="182880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8" name="Text 6"/>
          <p:cNvSpPr/>
          <p:nvPr/>
        </p:nvSpPr>
        <p:spPr>
          <a:xfrm>
            <a:off x="5029200" y="1325880"/>
            <a:ext cx="3474720" cy="32004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Conversation Management</a:t>
            </a:r>
            <a:endParaRPr lang="en-US" sz="1400" dirty="0"/>
          </a:p>
        </p:txBody>
      </p:sp>
      <p:sp>
        <p:nvSpPr>
          <p:cNvPr id="9" name="Text 7"/>
          <p:cNvSpPr/>
          <p:nvPr/>
        </p:nvSpPr>
        <p:spPr>
          <a:xfrm>
            <a:off x="5029200" y="1737360"/>
            <a:ext cx="3474720" cy="1188720"/>
          </a:xfrm>
          <a:prstGeom prst="rect">
            <a:avLst/>
          </a:prstGeom>
          <a:noFill/>
          <a:ln/>
        </p:spPr>
        <p:txBody>
          <a:bodyPr wrap="square" lIns="0" tIns="0" rIns="0" bIns="0" rtlCol="0" anchor="ctr"/>
          <a:lstStyle/>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SQLite database stores all conversations.</a:t>
            </a:r>
            <a:endParaRPr lang="en-US" sz="1000" dirty="0"/>
          </a:p>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Each session gets a unique conversation ID.</a:t>
            </a:r>
            <a:endParaRPr lang="en-US" sz="1000" dirty="0"/>
          </a:p>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Last 6 messages sent as history context.</a:t>
            </a:r>
            <a:endParaRPr lang="en-US" sz="1000" dirty="0"/>
          </a:p>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Enables follow-up questions (his/her/they).</a:t>
            </a:r>
            <a:endParaRPr lang="en-US" sz="1000" dirty="0"/>
          </a:p>
          <a:p>
            <a:pPr indent="0" marL="0">
              <a:lnSpc>
                <a:spcPct val="150000"/>
              </a:lnSpc>
              <a:buNone/>
            </a:pPr>
            <a:r>
              <a:rPr lang="en-US" sz="1000" dirty="0">
                <a:solidFill>
                  <a:srgbClr val="64748B"/>
                </a:solidFill>
                <a:latin typeface="Calibri" pitchFamily="34" charset="0"/>
                <a:ea typeface="Calibri" pitchFamily="34" charset="-122"/>
                <a:cs typeface="Calibri" pitchFamily="34" charset="-120"/>
              </a:rPr>
              <a:t>Persists across page refreshes.</a:t>
            </a:r>
            <a:endParaRPr lang="en-US" sz="1000" dirty="0"/>
          </a:p>
        </p:txBody>
      </p:sp>
      <p:sp>
        <p:nvSpPr>
          <p:cNvPr id="10" name="Shape 8"/>
          <p:cNvSpPr/>
          <p:nvPr/>
        </p:nvSpPr>
        <p:spPr>
          <a:xfrm>
            <a:off x="457200" y="3291840"/>
            <a:ext cx="8229600" cy="137160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1" name="Text 9"/>
          <p:cNvSpPr/>
          <p:nvPr/>
        </p:nvSpPr>
        <p:spPr>
          <a:xfrm>
            <a:off x="731520" y="3429000"/>
            <a:ext cx="7315200" cy="27432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Prompt Design Philosophy</a:t>
            </a:r>
            <a:endParaRPr lang="en-US" sz="1400" dirty="0"/>
          </a:p>
        </p:txBody>
      </p:sp>
      <p:sp>
        <p:nvSpPr>
          <p:cNvPr id="12" name="Text 10"/>
          <p:cNvSpPr/>
          <p:nvPr/>
        </p:nvSpPr>
        <p:spPr>
          <a:xfrm>
            <a:off x="731520" y="3749040"/>
            <a:ext cx="7772400" cy="82296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Instead of rigid rules telling the LLM what to say, the system uses a minimal identity-based prompt: "You work at the Department of Computer Science, CUSAT. A visitor asks you a question. Answer naturally, like a knowledgeable staff member would." This lets the LLM use its own intelligence to determine appropriate response depth, format, and tone.</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Technology Stack</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457200" y="1188720"/>
            <a:ext cx="3931920" cy="155448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5" name="Shape 3"/>
          <p:cNvSpPr/>
          <p:nvPr/>
        </p:nvSpPr>
        <p:spPr>
          <a:xfrm>
            <a:off x="685800" y="1554480"/>
            <a:ext cx="548640" cy="548640"/>
          </a:xfrm>
          <a:prstGeom prst="ellipse">
            <a:avLst/>
          </a:prstGeom>
          <a:solidFill>
            <a:srgbClr val="3B82F6">
              <a:alpha val="15000"/>
            </a:srgbClr>
          </a:solidFill>
          <a:ln/>
        </p:spPr>
      </p:sp>
      <p:pic>
        <p:nvPicPr>
          <p:cNvPr id="6" name="Image 0" descr="preencoded.png">    </p:cNvPr>
          <p:cNvPicPr>
            <a:picLocks noChangeAspect="1"/>
          </p:cNvPicPr>
          <p:nvPr/>
        </p:nvPicPr>
        <p:blipFill>
          <a:blip r:embed="rId1"/>
          <a:stretch>
            <a:fillRect/>
          </a:stretch>
        </p:blipFill>
        <p:spPr>
          <a:xfrm>
            <a:off x="758952" y="1627632"/>
            <a:ext cx="365760" cy="365760"/>
          </a:xfrm>
          <a:prstGeom prst="rect">
            <a:avLst/>
          </a:prstGeom>
        </p:spPr>
      </p:pic>
      <p:sp>
        <p:nvSpPr>
          <p:cNvPr id="7" name="Text 4"/>
          <p:cNvSpPr/>
          <p:nvPr/>
        </p:nvSpPr>
        <p:spPr>
          <a:xfrm>
            <a:off x="1463040" y="1371600"/>
            <a:ext cx="2560320" cy="32004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Frontend</a:t>
            </a:r>
            <a:endParaRPr lang="en-US" sz="1500" dirty="0"/>
          </a:p>
        </p:txBody>
      </p:sp>
      <p:sp>
        <p:nvSpPr>
          <p:cNvPr id="8" name="Text 5"/>
          <p:cNvSpPr/>
          <p:nvPr/>
        </p:nvSpPr>
        <p:spPr>
          <a:xfrm>
            <a:off x="1463040" y="1737360"/>
            <a:ext cx="2560320" cy="822960"/>
          </a:xfrm>
          <a:prstGeom prst="rect">
            <a:avLst/>
          </a:prstGeom>
          <a:noFill/>
          <a:ln/>
        </p:spPr>
        <p:txBody>
          <a:bodyPr wrap="square" lIns="0" tIns="0" rIns="0" bIns="0" rtlCol="0" anchor="ctr"/>
          <a:lstStyle/>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HTML5, CSS3, JavaScript</a:t>
            </a:r>
            <a:endParaRPr lang="en-US" sz="1100" dirty="0"/>
          </a:p>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Responsive dark-themed UI</a:t>
            </a:r>
            <a:endParaRPr lang="en-US" sz="1100" dirty="0"/>
          </a:p>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Chat popup + Fullscreen mode</a:t>
            </a:r>
            <a:endParaRPr lang="en-US" sz="1100" dirty="0"/>
          </a:p>
        </p:txBody>
      </p:sp>
      <p:sp>
        <p:nvSpPr>
          <p:cNvPr id="9" name="Shape 6"/>
          <p:cNvSpPr/>
          <p:nvPr/>
        </p:nvSpPr>
        <p:spPr>
          <a:xfrm>
            <a:off x="4754880" y="1188720"/>
            <a:ext cx="3931920" cy="155448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0" name="Shape 7"/>
          <p:cNvSpPr/>
          <p:nvPr/>
        </p:nvSpPr>
        <p:spPr>
          <a:xfrm>
            <a:off x="4983480" y="1554480"/>
            <a:ext cx="548640" cy="548640"/>
          </a:xfrm>
          <a:prstGeom prst="ellipse">
            <a:avLst/>
          </a:prstGeom>
          <a:solidFill>
            <a:srgbClr val="1E3A5F">
              <a:alpha val="15000"/>
            </a:srgbClr>
          </a:solidFill>
          <a:ln/>
        </p:spPr>
      </p:sp>
      <p:pic>
        <p:nvPicPr>
          <p:cNvPr id="11" name="Image 1" descr="preencoded.png">    </p:cNvPr>
          <p:cNvPicPr>
            <a:picLocks noChangeAspect="1"/>
          </p:cNvPicPr>
          <p:nvPr/>
        </p:nvPicPr>
        <p:blipFill>
          <a:blip r:embed="rId2"/>
          <a:stretch>
            <a:fillRect/>
          </a:stretch>
        </p:blipFill>
        <p:spPr>
          <a:xfrm>
            <a:off x="5056632" y="1627632"/>
            <a:ext cx="365760" cy="365760"/>
          </a:xfrm>
          <a:prstGeom prst="rect">
            <a:avLst/>
          </a:prstGeom>
        </p:spPr>
      </p:pic>
      <p:sp>
        <p:nvSpPr>
          <p:cNvPr id="12" name="Text 8"/>
          <p:cNvSpPr/>
          <p:nvPr/>
        </p:nvSpPr>
        <p:spPr>
          <a:xfrm>
            <a:off x="5760720" y="1371600"/>
            <a:ext cx="2560320" cy="32004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Backend</a:t>
            </a:r>
            <a:endParaRPr lang="en-US" sz="1500" dirty="0"/>
          </a:p>
        </p:txBody>
      </p:sp>
      <p:sp>
        <p:nvSpPr>
          <p:cNvPr id="13" name="Text 9"/>
          <p:cNvSpPr/>
          <p:nvPr/>
        </p:nvSpPr>
        <p:spPr>
          <a:xfrm>
            <a:off x="5760720" y="1737360"/>
            <a:ext cx="2560320" cy="822960"/>
          </a:xfrm>
          <a:prstGeom prst="rect">
            <a:avLst/>
          </a:prstGeom>
          <a:noFill/>
          <a:ln/>
        </p:spPr>
        <p:txBody>
          <a:bodyPr wrap="square" lIns="0" tIns="0" rIns="0" bIns="0" rtlCol="0" anchor="ctr"/>
          <a:lstStyle/>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Python 3, FastAPI</a:t>
            </a:r>
            <a:endParaRPr lang="en-US" sz="1100" dirty="0"/>
          </a:p>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Uvicorn ASGI Server</a:t>
            </a:r>
            <a:endParaRPr lang="en-US" sz="1100" dirty="0"/>
          </a:p>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RESTful API endpoints</a:t>
            </a:r>
            <a:endParaRPr lang="en-US" sz="1100" dirty="0"/>
          </a:p>
        </p:txBody>
      </p:sp>
      <p:sp>
        <p:nvSpPr>
          <p:cNvPr id="14" name="Shape 10"/>
          <p:cNvSpPr/>
          <p:nvPr/>
        </p:nvSpPr>
        <p:spPr>
          <a:xfrm>
            <a:off x="457200" y="3017520"/>
            <a:ext cx="3931920" cy="155448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5" name="Shape 11"/>
          <p:cNvSpPr/>
          <p:nvPr/>
        </p:nvSpPr>
        <p:spPr>
          <a:xfrm>
            <a:off x="685800" y="3383280"/>
            <a:ext cx="548640" cy="548640"/>
          </a:xfrm>
          <a:prstGeom prst="ellipse">
            <a:avLst/>
          </a:prstGeom>
          <a:solidFill>
            <a:srgbClr val="7C3AED">
              <a:alpha val="15000"/>
            </a:srgbClr>
          </a:solidFill>
          <a:ln/>
        </p:spPr>
      </p:sp>
      <p:pic>
        <p:nvPicPr>
          <p:cNvPr id="16" name="Image 2" descr="preencoded.png">    </p:cNvPr>
          <p:cNvPicPr>
            <a:picLocks noChangeAspect="1"/>
          </p:cNvPicPr>
          <p:nvPr/>
        </p:nvPicPr>
        <p:blipFill>
          <a:blip r:embed="rId3"/>
          <a:stretch>
            <a:fillRect/>
          </a:stretch>
        </p:blipFill>
        <p:spPr>
          <a:xfrm>
            <a:off x="758952" y="3456432"/>
            <a:ext cx="365760" cy="365760"/>
          </a:xfrm>
          <a:prstGeom prst="rect">
            <a:avLst/>
          </a:prstGeom>
        </p:spPr>
      </p:pic>
      <p:sp>
        <p:nvSpPr>
          <p:cNvPr id="17" name="Text 12"/>
          <p:cNvSpPr/>
          <p:nvPr/>
        </p:nvSpPr>
        <p:spPr>
          <a:xfrm>
            <a:off x="1463040" y="3200400"/>
            <a:ext cx="2560320" cy="32004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AI / ML</a:t>
            </a:r>
            <a:endParaRPr lang="en-US" sz="1500" dirty="0"/>
          </a:p>
        </p:txBody>
      </p:sp>
      <p:sp>
        <p:nvSpPr>
          <p:cNvPr id="18" name="Text 13"/>
          <p:cNvSpPr/>
          <p:nvPr/>
        </p:nvSpPr>
        <p:spPr>
          <a:xfrm>
            <a:off x="1463040" y="3566160"/>
            <a:ext cx="2560320" cy="822960"/>
          </a:xfrm>
          <a:prstGeom prst="rect">
            <a:avLst/>
          </a:prstGeom>
          <a:noFill/>
          <a:ln/>
        </p:spPr>
        <p:txBody>
          <a:bodyPr wrap="square" lIns="0" tIns="0" rIns="0" bIns="0" rtlCol="0" anchor="ctr"/>
          <a:lstStyle/>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Groq API (Llama 3.3 70B)</a:t>
            </a:r>
            <a:endParaRPr lang="en-US" sz="1100" dirty="0"/>
          </a:p>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BAAI/bge-base-en-v1.5</a:t>
            </a:r>
            <a:endParaRPr lang="en-US" sz="1100" dirty="0"/>
          </a:p>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Sentence Transformers</a:t>
            </a:r>
            <a:endParaRPr lang="en-US" sz="1100" dirty="0"/>
          </a:p>
        </p:txBody>
      </p:sp>
      <p:sp>
        <p:nvSpPr>
          <p:cNvPr id="19" name="Shape 14"/>
          <p:cNvSpPr/>
          <p:nvPr/>
        </p:nvSpPr>
        <p:spPr>
          <a:xfrm>
            <a:off x="4754880" y="3017520"/>
            <a:ext cx="3931920" cy="155448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20" name="Shape 15"/>
          <p:cNvSpPr/>
          <p:nvPr/>
        </p:nvSpPr>
        <p:spPr>
          <a:xfrm>
            <a:off x="4983480" y="3383280"/>
            <a:ext cx="548640" cy="548640"/>
          </a:xfrm>
          <a:prstGeom prst="ellipse">
            <a:avLst/>
          </a:prstGeom>
          <a:solidFill>
            <a:srgbClr val="0D9488">
              <a:alpha val="15000"/>
            </a:srgbClr>
          </a:solidFill>
          <a:ln/>
        </p:spPr>
      </p:sp>
      <p:pic>
        <p:nvPicPr>
          <p:cNvPr id="21" name="Image 3" descr="preencoded.png">    </p:cNvPr>
          <p:cNvPicPr>
            <a:picLocks noChangeAspect="1"/>
          </p:cNvPicPr>
          <p:nvPr/>
        </p:nvPicPr>
        <p:blipFill>
          <a:blip r:embed="rId4"/>
          <a:stretch>
            <a:fillRect/>
          </a:stretch>
        </p:blipFill>
        <p:spPr>
          <a:xfrm>
            <a:off x="5056632" y="3456432"/>
            <a:ext cx="365760" cy="365760"/>
          </a:xfrm>
          <a:prstGeom prst="rect">
            <a:avLst/>
          </a:prstGeom>
        </p:spPr>
      </p:pic>
      <p:sp>
        <p:nvSpPr>
          <p:cNvPr id="22" name="Text 16"/>
          <p:cNvSpPr/>
          <p:nvPr/>
        </p:nvSpPr>
        <p:spPr>
          <a:xfrm>
            <a:off x="5760720" y="3200400"/>
            <a:ext cx="2560320" cy="320040"/>
          </a:xfrm>
          <a:prstGeom prst="rect">
            <a:avLst/>
          </a:prstGeom>
          <a:noFill/>
          <a:ln/>
        </p:spPr>
        <p:txBody>
          <a:bodyPr wrap="square" lIns="0" tIns="0" rIns="0" bIns="0" rtlCol="0" anchor="ctr"/>
          <a:lstStyle/>
          <a:p>
            <a:pPr indent="0" marL="0">
              <a:buNone/>
            </a:pPr>
            <a:r>
              <a:rPr lang="en-US" sz="1500" b="1" dirty="0">
                <a:solidFill>
                  <a:srgbClr val="0F172A"/>
                </a:solidFill>
                <a:latin typeface="Trebuchet MS" pitchFamily="34" charset="0"/>
                <a:ea typeface="Trebuchet MS" pitchFamily="34" charset="-122"/>
                <a:cs typeface="Trebuchet MS" pitchFamily="34" charset="-120"/>
              </a:rPr>
              <a:t>Data &amp; Storage</a:t>
            </a:r>
            <a:endParaRPr lang="en-US" sz="1500" dirty="0"/>
          </a:p>
        </p:txBody>
      </p:sp>
      <p:sp>
        <p:nvSpPr>
          <p:cNvPr id="23" name="Text 17"/>
          <p:cNvSpPr/>
          <p:nvPr/>
        </p:nvSpPr>
        <p:spPr>
          <a:xfrm>
            <a:off x="5760720" y="3566160"/>
            <a:ext cx="2560320" cy="822960"/>
          </a:xfrm>
          <a:prstGeom prst="rect">
            <a:avLst/>
          </a:prstGeom>
          <a:noFill/>
          <a:ln/>
        </p:spPr>
        <p:txBody>
          <a:bodyPr wrap="square" lIns="0" tIns="0" rIns="0" bIns="0" rtlCol="0" anchor="ctr"/>
          <a:lstStyle/>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ChromaDB (Vector DB)</a:t>
            </a:r>
            <a:endParaRPr lang="en-US" sz="1100" dirty="0"/>
          </a:p>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SQLite (Chat History)</a:t>
            </a:r>
            <a:endParaRPr lang="en-US" sz="1100" dirty="0"/>
          </a:p>
          <a:p>
            <a:pPr indent="0" marL="0">
              <a:lnSpc>
                <a:spcPct val="140000"/>
              </a:lnSpc>
              <a:buNone/>
            </a:pPr>
            <a:r>
              <a:rPr lang="en-US" sz="1100" dirty="0">
                <a:solidFill>
                  <a:srgbClr val="64748B"/>
                </a:solidFill>
                <a:latin typeface="Calibri" pitchFamily="34" charset="0"/>
                <a:ea typeface="Calibri" pitchFamily="34" charset="-122"/>
                <a:cs typeface="Calibri" pitchFamily="34" charset="-120"/>
              </a:rPr>
              <a:t>pypdf (PDF Processing)</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Implementation Details</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457200" y="1097280"/>
            <a:ext cx="8229600" cy="64008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5" name="Text 3"/>
          <p:cNvSpPr/>
          <p:nvPr/>
        </p:nvSpPr>
        <p:spPr>
          <a:xfrm>
            <a:off x="640080" y="1143000"/>
            <a:ext cx="1371600" cy="274320"/>
          </a:xfrm>
          <a:prstGeom prst="rect">
            <a:avLst/>
          </a:prstGeom>
          <a:noFill/>
          <a:ln/>
        </p:spPr>
        <p:txBody>
          <a:bodyPr wrap="square" lIns="0" tIns="0" rIns="0" bIns="0" rtlCol="0" anchor="ctr"/>
          <a:lstStyle/>
          <a:p>
            <a:pPr indent="0" marL="0">
              <a:buNone/>
            </a:pPr>
            <a:r>
              <a:rPr lang="en-US" sz="1200" b="1" dirty="0">
                <a:solidFill>
                  <a:srgbClr val="3B82F6"/>
                </a:solidFill>
                <a:latin typeface="Consolas" pitchFamily="34" charset="0"/>
                <a:ea typeface="Consolas" pitchFamily="34" charset="-122"/>
                <a:cs typeface="Consolas" pitchFamily="34" charset="-120"/>
              </a:rPr>
              <a:t>ingest.py</a:t>
            </a:r>
            <a:endParaRPr lang="en-US" sz="1200" dirty="0"/>
          </a:p>
        </p:txBody>
      </p:sp>
      <p:sp>
        <p:nvSpPr>
          <p:cNvPr id="6" name="Text 4"/>
          <p:cNvSpPr/>
          <p:nvPr/>
        </p:nvSpPr>
        <p:spPr>
          <a:xfrm>
            <a:off x="2103120" y="1143000"/>
            <a:ext cx="6217920" cy="5486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Reads PDFs/TXT from data directory, merges short lines, chunks with overlap, creates section summaries, embeds using BGE model, stores in ChromaDB.</a:t>
            </a:r>
            <a:endParaRPr lang="en-US" sz="1000" dirty="0"/>
          </a:p>
        </p:txBody>
      </p:sp>
      <p:sp>
        <p:nvSpPr>
          <p:cNvPr id="7" name="Shape 5"/>
          <p:cNvSpPr/>
          <p:nvPr/>
        </p:nvSpPr>
        <p:spPr>
          <a:xfrm>
            <a:off x="457200" y="1874520"/>
            <a:ext cx="8229600" cy="64008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8" name="Text 6"/>
          <p:cNvSpPr/>
          <p:nvPr/>
        </p:nvSpPr>
        <p:spPr>
          <a:xfrm>
            <a:off x="640080" y="1920240"/>
            <a:ext cx="1371600" cy="274320"/>
          </a:xfrm>
          <a:prstGeom prst="rect">
            <a:avLst/>
          </a:prstGeom>
          <a:noFill/>
          <a:ln/>
        </p:spPr>
        <p:txBody>
          <a:bodyPr wrap="square" lIns="0" tIns="0" rIns="0" bIns="0" rtlCol="0" anchor="ctr"/>
          <a:lstStyle/>
          <a:p>
            <a:pPr indent="0" marL="0">
              <a:buNone/>
            </a:pPr>
            <a:r>
              <a:rPr lang="en-US" sz="1200" b="1" dirty="0">
                <a:solidFill>
                  <a:srgbClr val="3B82F6"/>
                </a:solidFill>
                <a:latin typeface="Consolas" pitchFamily="34" charset="0"/>
                <a:ea typeface="Consolas" pitchFamily="34" charset="-122"/>
                <a:cs typeface="Consolas" pitchFamily="34" charset="-120"/>
              </a:rPr>
              <a:t>main.py</a:t>
            </a:r>
            <a:endParaRPr lang="en-US" sz="1200" dirty="0"/>
          </a:p>
        </p:txBody>
      </p:sp>
      <p:sp>
        <p:nvSpPr>
          <p:cNvPr id="9" name="Text 7"/>
          <p:cNvSpPr/>
          <p:nvPr/>
        </p:nvSpPr>
        <p:spPr>
          <a:xfrm>
            <a:off x="2103120" y="1920240"/>
            <a:ext cx="6217920" cy="5486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FastAPI server with endpoints: /chat, /upload, /delete, /documents, /conversations. Handles hybrid retrieval, query expansion, LLM calls, and SQLite persistence.</a:t>
            </a:r>
            <a:endParaRPr lang="en-US" sz="1000" dirty="0"/>
          </a:p>
        </p:txBody>
      </p:sp>
      <p:sp>
        <p:nvSpPr>
          <p:cNvPr id="10" name="Shape 8"/>
          <p:cNvSpPr/>
          <p:nvPr/>
        </p:nvSpPr>
        <p:spPr>
          <a:xfrm>
            <a:off x="457200" y="2651760"/>
            <a:ext cx="8229600" cy="64008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1" name="Text 9"/>
          <p:cNvSpPr/>
          <p:nvPr/>
        </p:nvSpPr>
        <p:spPr>
          <a:xfrm>
            <a:off x="640080" y="2697480"/>
            <a:ext cx="1371600" cy="274320"/>
          </a:xfrm>
          <a:prstGeom prst="rect">
            <a:avLst/>
          </a:prstGeom>
          <a:noFill/>
          <a:ln/>
        </p:spPr>
        <p:txBody>
          <a:bodyPr wrap="square" lIns="0" tIns="0" rIns="0" bIns="0" rtlCol="0" anchor="ctr"/>
          <a:lstStyle/>
          <a:p>
            <a:pPr indent="0" marL="0">
              <a:buNone/>
            </a:pPr>
            <a:r>
              <a:rPr lang="en-US" sz="1200" b="1" dirty="0">
                <a:solidFill>
                  <a:srgbClr val="3B82F6"/>
                </a:solidFill>
                <a:latin typeface="Consolas" pitchFamily="34" charset="0"/>
                <a:ea typeface="Consolas" pitchFamily="34" charset="-122"/>
                <a:cs typeface="Consolas" pitchFamily="34" charset="-120"/>
              </a:rPr>
              <a:t>groq.py</a:t>
            </a:r>
            <a:endParaRPr lang="en-US" sz="1200" dirty="0"/>
          </a:p>
        </p:txBody>
      </p:sp>
      <p:sp>
        <p:nvSpPr>
          <p:cNvPr id="12" name="Text 10"/>
          <p:cNvSpPr/>
          <p:nvPr/>
        </p:nvSpPr>
        <p:spPr>
          <a:xfrm>
            <a:off x="2103120" y="2697480"/>
            <a:ext cx="6217920" cy="5486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LLM interface using Groq API with Llama 3.3 70B. Minimal system prompt letting the model think naturally rather than following rigid rules.</a:t>
            </a:r>
            <a:endParaRPr lang="en-US" sz="1000" dirty="0"/>
          </a:p>
        </p:txBody>
      </p:sp>
      <p:sp>
        <p:nvSpPr>
          <p:cNvPr id="13" name="Shape 11"/>
          <p:cNvSpPr/>
          <p:nvPr/>
        </p:nvSpPr>
        <p:spPr>
          <a:xfrm>
            <a:off x="457200" y="3429000"/>
            <a:ext cx="8229600" cy="64008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4" name="Text 12"/>
          <p:cNvSpPr/>
          <p:nvPr/>
        </p:nvSpPr>
        <p:spPr>
          <a:xfrm>
            <a:off x="640080" y="3474720"/>
            <a:ext cx="1371600" cy="274320"/>
          </a:xfrm>
          <a:prstGeom prst="rect">
            <a:avLst/>
          </a:prstGeom>
          <a:noFill/>
          <a:ln/>
        </p:spPr>
        <p:txBody>
          <a:bodyPr wrap="square" lIns="0" tIns="0" rIns="0" bIns="0" rtlCol="0" anchor="ctr"/>
          <a:lstStyle/>
          <a:p>
            <a:pPr indent="0" marL="0">
              <a:buNone/>
            </a:pPr>
            <a:r>
              <a:rPr lang="en-US" sz="1200" b="1" dirty="0">
                <a:solidFill>
                  <a:srgbClr val="3B82F6"/>
                </a:solidFill>
                <a:latin typeface="Consolas" pitchFamily="34" charset="0"/>
                <a:ea typeface="Consolas" pitchFamily="34" charset="-122"/>
                <a:cs typeface="Consolas" pitchFamily="34" charset="-120"/>
              </a:rPr>
              <a:t>index.html</a:t>
            </a:r>
            <a:endParaRPr lang="en-US" sz="1200" dirty="0"/>
          </a:p>
        </p:txBody>
      </p:sp>
      <p:sp>
        <p:nvSpPr>
          <p:cNvPr id="15" name="Text 13"/>
          <p:cNvSpPr/>
          <p:nvPr/>
        </p:nvSpPr>
        <p:spPr>
          <a:xfrm>
            <a:off x="2103120" y="3474720"/>
            <a:ext cx="6217920" cy="5486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Single-file frontend with chat popup widget, fullscreen mode with sidebar, staff panel for document management, and Claude-style conversation delete.</a:t>
            </a:r>
            <a:endParaRPr lang="en-US" sz="1000" dirty="0"/>
          </a:p>
        </p:txBody>
      </p:sp>
      <p:sp>
        <p:nvSpPr>
          <p:cNvPr id="16" name="Shape 14"/>
          <p:cNvSpPr/>
          <p:nvPr/>
        </p:nvSpPr>
        <p:spPr>
          <a:xfrm>
            <a:off x="457200" y="4206240"/>
            <a:ext cx="8229600" cy="64008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7" name="Text 15"/>
          <p:cNvSpPr/>
          <p:nvPr/>
        </p:nvSpPr>
        <p:spPr>
          <a:xfrm>
            <a:off x="640080" y="4251960"/>
            <a:ext cx="1371600" cy="274320"/>
          </a:xfrm>
          <a:prstGeom prst="rect">
            <a:avLst/>
          </a:prstGeom>
          <a:noFill/>
          <a:ln/>
        </p:spPr>
        <p:txBody>
          <a:bodyPr wrap="square" lIns="0" tIns="0" rIns="0" bIns="0" rtlCol="0" anchor="ctr"/>
          <a:lstStyle/>
          <a:p>
            <a:pPr indent="0" marL="0">
              <a:buNone/>
            </a:pPr>
            <a:r>
              <a:rPr lang="en-US" sz="1200" b="1" dirty="0">
                <a:solidFill>
                  <a:srgbClr val="3B82F6"/>
                </a:solidFill>
                <a:latin typeface="Consolas" pitchFamily="34" charset="0"/>
                <a:ea typeface="Consolas" pitchFamily="34" charset="-122"/>
                <a:cs typeface="Consolas" pitchFamily="34" charset="-120"/>
              </a:rPr>
              <a:t>query.py</a:t>
            </a:r>
            <a:endParaRPr lang="en-US" sz="1200" dirty="0"/>
          </a:p>
        </p:txBody>
      </p:sp>
      <p:sp>
        <p:nvSpPr>
          <p:cNvPr id="18" name="Text 16"/>
          <p:cNvSpPr/>
          <p:nvPr/>
        </p:nvSpPr>
        <p:spPr>
          <a:xfrm>
            <a:off x="2103120" y="4251960"/>
            <a:ext cx="6217920" cy="548640"/>
          </a:xfrm>
          <a:prstGeom prst="rect">
            <a:avLst/>
          </a:prstGeom>
          <a:noFill/>
          <a:ln/>
        </p:spPr>
        <p:txBody>
          <a:bodyPr wrap="square" lIns="0" tIns="0" rIns="0" bIns="0" rtlCol="0" anchor="ctr"/>
          <a:lstStyle/>
          <a:p>
            <a:pPr indent="0" marL="0">
              <a:lnSpc>
                <a:spcPct val="130000"/>
              </a:lnSpc>
              <a:buNone/>
            </a:pPr>
            <a:r>
              <a:rPr lang="en-US" sz="1000" dirty="0">
                <a:solidFill>
                  <a:srgbClr val="64748B"/>
                </a:solidFill>
                <a:latin typeface="Calibri" pitchFamily="34" charset="0"/>
                <a:ea typeface="Calibri" pitchFamily="34" charset="-122"/>
                <a:cs typeface="Calibri" pitchFamily="34" charset="-120"/>
              </a:rPr>
              <a:t>Standalone retrieval testing tool. Embeds a query and shows top 10 matching chunks with scores — used for debugging retrieval quality.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User Interface</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457200" y="1188720"/>
            <a:ext cx="3931920" cy="146304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5" name="Text 3"/>
          <p:cNvSpPr/>
          <p:nvPr/>
        </p:nvSpPr>
        <p:spPr>
          <a:xfrm>
            <a:off x="731520" y="1325880"/>
            <a:ext cx="338328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Floating Chat Widget</a:t>
            </a:r>
            <a:endParaRPr lang="en-US" sz="1300" dirty="0"/>
          </a:p>
        </p:txBody>
      </p:sp>
      <p:sp>
        <p:nvSpPr>
          <p:cNvPr id="6" name="Text 4"/>
          <p:cNvSpPr/>
          <p:nvPr/>
        </p:nvSpPr>
        <p:spPr>
          <a:xfrm>
            <a:off x="731520" y="1645920"/>
            <a:ext cx="3383280" cy="82296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Embeddable popup activated by a floating button — can be integrated into any website. Compact view with typing indicators and source citations.</a:t>
            </a:r>
            <a:endParaRPr lang="en-US" sz="1000" dirty="0"/>
          </a:p>
        </p:txBody>
      </p:sp>
      <p:sp>
        <p:nvSpPr>
          <p:cNvPr id="7" name="Shape 5"/>
          <p:cNvSpPr/>
          <p:nvPr/>
        </p:nvSpPr>
        <p:spPr>
          <a:xfrm>
            <a:off x="4754880" y="1188720"/>
            <a:ext cx="3931920" cy="146304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8" name="Text 6"/>
          <p:cNvSpPr/>
          <p:nvPr/>
        </p:nvSpPr>
        <p:spPr>
          <a:xfrm>
            <a:off x="5029200" y="1325880"/>
            <a:ext cx="338328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Fullscreen Mode</a:t>
            </a:r>
            <a:endParaRPr lang="en-US" sz="1300" dirty="0"/>
          </a:p>
        </p:txBody>
      </p:sp>
      <p:sp>
        <p:nvSpPr>
          <p:cNvPr id="9" name="Text 7"/>
          <p:cNvSpPr/>
          <p:nvPr/>
        </p:nvSpPr>
        <p:spPr>
          <a:xfrm>
            <a:off x="5029200" y="1645920"/>
            <a:ext cx="3383280" cy="82296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Claude-style interface with left sidebar showing conversation history. Users can switch between popup and fullscreen seamlessly.</a:t>
            </a:r>
            <a:endParaRPr lang="en-US" sz="1000" dirty="0"/>
          </a:p>
        </p:txBody>
      </p:sp>
      <p:sp>
        <p:nvSpPr>
          <p:cNvPr id="10" name="Shape 8"/>
          <p:cNvSpPr/>
          <p:nvPr/>
        </p:nvSpPr>
        <p:spPr>
          <a:xfrm>
            <a:off x="457200" y="2926080"/>
            <a:ext cx="3931920" cy="146304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1" name="Text 9"/>
          <p:cNvSpPr/>
          <p:nvPr/>
        </p:nvSpPr>
        <p:spPr>
          <a:xfrm>
            <a:off x="731520" y="3063240"/>
            <a:ext cx="338328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Staff Management Panel</a:t>
            </a:r>
            <a:endParaRPr lang="en-US" sz="1300" dirty="0"/>
          </a:p>
        </p:txBody>
      </p:sp>
      <p:sp>
        <p:nvSpPr>
          <p:cNvPr id="12" name="Text 10"/>
          <p:cNvSpPr/>
          <p:nvPr/>
        </p:nvSpPr>
        <p:spPr>
          <a:xfrm>
            <a:off x="731520" y="3383280"/>
            <a:ext cx="3383280" cy="82296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Password-protected panel for uploading and deleting department documents. Files are automatically indexed into the vector database upon upload.</a:t>
            </a:r>
            <a:endParaRPr lang="en-US" sz="1000" dirty="0"/>
          </a:p>
        </p:txBody>
      </p:sp>
      <p:sp>
        <p:nvSpPr>
          <p:cNvPr id="13" name="Shape 11"/>
          <p:cNvSpPr/>
          <p:nvPr/>
        </p:nvSpPr>
        <p:spPr>
          <a:xfrm>
            <a:off x="4754880" y="2926080"/>
            <a:ext cx="3931920" cy="1463040"/>
          </a:xfrm>
          <a:prstGeom prst="rect">
            <a:avLst/>
          </a:prstGeom>
          <a:solidFill>
            <a:srgbClr val="F8FAFC"/>
          </a:solidFill>
          <a:ln/>
          <a:effectLst>
            <a:outerShdw sx="100000" sy="100000" kx="0" ky="0" algn="bl" rotWithShape="0" blurRad="50800" dist="25400" dir="8100000">
              <a:srgbClr val="000000">
                <a:alpha val="8000"/>
              </a:srgbClr>
            </a:outerShdw>
          </a:effectLst>
        </p:spPr>
      </p:sp>
      <p:sp>
        <p:nvSpPr>
          <p:cNvPr id="14" name="Text 12"/>
          <p:cNvSpPr/>
          <p:nvPr/>
        </p:nvSpPr>
        <p:spPr>
          <a:xfrm>
            <a:off x="5029200" y="3063240"/>
            <a:ext cx="338328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Conversation History</a:t>
            </a:r>
            <a:endParaRPr lang="en-US" sz="1300" dirty="0"/>
          </a:p>
        </p:txBody>
      </p:sp>
      <p:sp>
        <p:nvSpPr>
          <p:cNvPr id="15" name="Text 13"/>
          <p:cNvSpPr/>
          <p:nvPr/>
        </p:nvSpPr>
        <p:spPr>
          <a:xfrm>
            <a:off x="5029200" y="3383280"/>
            <a:ext cx="3383280" cy="82296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SQLite-backed persistent history with sidebar navigation. Conversations survive page refresh. Delete with styled confirmation modal.</a:t>
            </a:r>
            <a:endParaRPr lang="en-US" sz="1000" dirty="0"/>
          </a:p>
        </p:txBody>
      </p:sp>
      <p:sp>
        <p:nvSpPr>
          <p:cNvPr id="16" name="Text 14"/>
          <p:cNvSpPr/>
          <p:nvPr/>
        </p:nvSpPr>
        <p:spPr>
          <a:xfrm>
            <a:off x="2286000" y="4663440"/>
            <a:ext cx="4572000" cy="274320"/>
          </a:xfrm>
          <a:prstGeom prst="rect">
            <a:avLst/>
          </a:prstGeom>
          <a:noFill/>
          <a:ln/>
        </p:spPr>
        <p:txBody>
          <a:bodyPr wrap="square" lIns="0" tIns="0" rIns="0" bIns="0" rtlCol="0" anchor="ctr"/>
          <a:lstStyle/>
          <a:p>
            <a:pPr algn="ctr" indent="0" marL="0">
              <a:buNone/>
            </a:pPr>
            <a:r>
              <a:rPr lang="en-US" sz="1200" i="1" dirty="0">
                <a:solidFill>
                  <a:srgbClr val="3B82F6"/>
                </a:solidFill>
                <a:latin typeface="Calibri" pitchFamily="34" charset="0"/>
                <a:ea typeface="Calibri" pitchFamily="34" charset="-122"/>
                <a:cs typeface="Calibri" pitchFamily="34" charset="-120"/>
              </a:rPr>
              <a:t>[ Live Demo Screenshots / Demo ]</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Key Features</a:t>
            </a:r>
            <a:endParaRPr lang="en-US" sz="3000" dirty="0"/>
          </a:p>
        </p:txBody>
      </p:sp>
      <p:sp>
        <p:nvSpPr>
          <p:cNvPr id="3" name="Shape 1"/>
          <p:cNvSpPr/>
          <p:nvPr/>
        </p:nvSpPr>
        <p:spPr>
          <a:xfrm>
            <a:off x="640080" y="914400"/>
            <a:ext cx="914400" cy="36576"/>
          </a:xfrm>
          <a:prstGeom prst="rect">
            <a:avLst/>
          </a:prstGeom>
          <a:solidFill>
            <a:srgbClr val="3B82F6"/>
          </a:solidFill>
          <a:ln/>
        </p:spPr>
      </p:sp>
      <p:pic>
        <p:nvPicPr>
          <p:cNvPr id="4" name="Image 0" descr="preencoded.png">    </p:cNvPr>
          <p:cNvPicPr>
            <a:picLocks noChangeAspect="1"/>
          </p:cNvPicPr>
          <p:nvPr/>
        </p:nvPicPr>
        <p:blipFill>
          <a:blip r:embed="rId1"/>
          <a:stretch>
            <a:fillRect/>
          </a:stretch>
        </p:blipFill>
        <p:spPr>
          <a:xfrm>
            <a:off x="640080" y="1133856"/>
            <a:ext cx="201168" cy="201168"/>
          </a:xfrm>
          <a:prstGeom prst="rect">
            <a:avLst/>
          </a:prstGeom>
        </p:spPr>
      </p:pic>
      <p:sp>
        <p:nvSpPr>
          <p:cNvPr id="5" name="Text 2"/>
          <p:cNvSpPr/>
          <p:nvPr/>
        </p:nvSpPr>
        <p:spPr>
          <a:xfrm>
            <a:off x="1005840" y="1097280"/>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Hybrid search: semantic embeddings + keyword matching for comprehensive retrieval</a:t>
            </a:r>
            <a:endParaRPr lang="en-US" sz="1100" dirty="0"/>
          </a:p>
        </p:txBody>
      </p:sp>
      <p:pic>
        <p:nvPicPr>
          <p:cNvPr id="6" name="Image 1" descr="preencoded.png">    </p:cNvPr>
          <p:cNvPicPr>
            <a:picLocks noChangeAspect="1"/>
          </p:cNvPicPr>
          <p:nvPr/>
        </p:nvPicPr>
        <p:blipFill>
          <a:blip r:embed="rId2"/>
          <a:stretch>
            <a:fillRect/>
          </a:stretch>
        </p:blipFill>
        <p:spPr>
          <a:xfrm>
            <a:off x="640080" y="1517904"/>
            <a:ext cx="201168" cy="201168"/>
          </a:xfrm>
          <a:prstGeom prst="rect">
            <a:avLst/>
          </a:prstGeom>
        </p:spPr>
      </p:pic>
      <p:sp>
        <p:nvSpPr>
          <p:cNvPr id="7" name="Text 3"/>
          <p:cNvSpPr/>
          <p:nvPr/>
        </p:nvSpPr>
        <p:spPr>
          <a:xfrm>
            <a:off x="1005840" y="1481328"/>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Intelligent chunking with 150-char overlap preserves context at chunk boundaries</a:t>
            </a:r>
            <a:endParaRPr lang="en-US" sz="1100" dirty="0"/>
          </a:p>
        </p:txBody>
      </p:sp>
      <p:pic>
        <p:nvPicPr>
          <p:cNvPr id="8" name="Image 2" descr="preencoded.png">    </p:cNvPr>
          <p:cNvPicPr>
            <a:picLocks noChangeAspect="1"/>
          </p:cNvPicPr>
          <p:nvPr/>
        </p:nvPicPr>
        <p:blipFill>
          <a:blip r:embed="rId3"/>
          <a:stretch>
            <a:fillRect/>
          </a:stretch>
        </p:blipFill>
        <p:spPr>
          <a:xfrm>
            <a:off x="640080" y="1901952"/>
            <a:ext cx="201168" cy="201168"/>
          </a:xfrm>
          <a:prstGeom prst="rect">
            <a:avLst/>
          </a:prstGeom>
        </p:spPr>
      </p:pic>
      <p:sp>
        <p:nvSpPr>
          <p:cNvPr id="9" name="Text 4"/>
          <p:cNvSpPr/>
          <p:nvPr/>
        </p:nvSpPr>
        <p:spPr>
          <a:xfrm>
            <a:off x="1005840" y="1865376"/>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Query expansion via LLM for better search coverage (abbreviation handling)</a:t>
            </a:r>
            <a:endParaRPr lang="en-US" sz="1100" dirty="0"/>
          </a:p>
        </p:txBody>
      </p:sp>
      <p:pic>
        <p:nvPicPr>
          <p:cNvPr id="10" name="Image 3" descr="preencoded.png">    </p:cNvPr>
          <p:cNvPicPr>
            <a:picLocks noChangeAspect="1"/>
          </p:cNvPicPr>
          <p:nvPr/>
        </p:nvPicPr>
        <p:blipFill>
          <a:blip r:embed="rId4"/>
          <a:stretch>
            <a:fillRect/>
          </a:stretch>
        </p:blipFill>
        <p:spPr>
          <a:xfrm>
            <a:off x="640080" y="2286000"/>
            <a:ext cx="201168" cy="201168"/>
          </a:xfrm>
          <a:prstGeom prst="rect">
            <a:avLst/>
          </a:prstGeom>
        </p:spPr>
      </p:pic>
      <p:sp>
        <p:nvSpPr>
          <p:cNvPr id="11" name="Text 5"/>
          <p:cNvSpPr/>
          <p:nvPr/>
        </p:nvSpPr>
        <p:spPr>
          <a:xfrm>
            <a:off x="1005840" y="2249424"/>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Section-aware indexing creates dedicated chunks for faculty, PhD, placements, fees</a:t>
            </a:r>
            <a:endParaRPr lang="en-US" sz="1100" dirty="0"/>
          </a:p>
        </p:txBody>
      </p:sp>
      <p:pic>
        <p:nvPicPr>
          <p:cNvPr id="12" name="Image 4" descr="preencoded.png">    </p:cNvPr>
          <p:cNvPicPr>
            <a:picLocks noChangeAspect="1"/>
          </p:cNvPicPr>
          <p:nvPr/>
        </p:nvPicPr>
        <p:blipFill>
          <a:blip r:embed="rId5"/>
          <a:stretch>
            <a:fillRect/>
          </a:stretch>
        </p:blipFill>
        <p:spPr>
          <a:xfrm>
            <a:off x="640080" y="2670048"/>
            <a:ext cx="201168" cy="201168"/>
          </a:xfrm>
          <a:prstGeom prst="rect">
            <a:avLst/>
          </a:prstGeom>
        </p:spPr>
      </p:pic>
      <p:sp>
        <p:nvSpPr>
          <p:cNvPr id="13" name="Text 6"/>
          <p:cNvSpPr/>
          <p:nvPr/>
        </p:nvSpPr>
        <p:spPr>
          <a:xfrm>
            <a:off x="1005840" y="2633472"/>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Staff panel with password-protected document upload and deletion</a:t>
            </a:r>
            <a:endParaRPr lang="en-US" sz="1100" dirty="0"/>
          </a:p>
        </p:txBody>
      </p:sp>
      <p:pic>
        <p:nvPicPr>
          <p:cNvPr id="14" name="Image 5" descr="preencoded.png">    </p:cNvPr>
          <p:cNvPicPr>
            <a:picLocks noChangeAspect="1"/>
          </p:cNvPicPr>
          <p:nvPr/>
        </p:nvPicPr>
        <p:blipFill>
          <a:blip r:embed="rId6"/>
          <a:stretch>
            <a:fillRect/>
          </a:stretch>
        </p:blipFill>
        <p:spPr>
          <a:xfrm>
            <a:off x="640080" y="3054096"/>
            <a:ext cx="201168" cy="201168"/>
          </a:xfrm>
          <a:prstGeom prst="rect">
            <a:avLst/>
          </a:prstGeom>
        </p:spPr>
      </p:pic>
      <p:sp>
        <p:nvSpPr>
          <p:cNvPr id="15" name="Text 7"/>
          <p:cNvSpPr/>
          <p:nvPr/>
        </p:nvSpPr>
        <p:spPr>
          <a:xfrm>
            <a:off x="1005840" y="3017520"/>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SQLite-backed persistent chat history across browser sessions</a:t>
            </a:r>
            <a:endParaRPr lang="en-US" sz="1100" dirty="0"/>
          </a:p>
        </p:txBody>
      </p:sp>
      <p:pic>
        <p:nvPicPr>
          <p:cNvPr id="16" name="Image 6" descr="preencoded.png">    </p:cNvPr>
          <p:cNvPicPr>
            <a:picLocks noChangeAspect="1"/>
          </p:cNvPicPr>
          <p:nvPr/>
        </p:nvPicPr>
        <p:blipFill>
          <a:blip r:embed="rId7"/>
          <a:stretch>
            <a:fillRect/>
          </a:stretch>
        </p:blipFill>
        <p:spPr>
          <a:xfrm>
            <a:off x="640080" y="3438144"/>
            <a:ext cx="201168" cy="201168"/>
          </a:xfrm>
          <a:prstGeom prst="rect">
            <a:avLst/>
          </a:prstGeom>
        </p:spPr>
      </p:pic>
      <p:sp>
        <p:nvSpPr>
          <p:cNvPr id="17" name="Text 8"/>
          <p:cNvSpPr/>
          <p:nvPr/>
        </p:nvSpPr>
        <p:spPr>
          <a:xfrm>
            <a:off x="1005840" y="3401568"/>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Conversation follow-ups with pronoun resolution from chat history</a:t>
            </a:r>
            <a:endParaRPr lang="en-US" sz="1100" dirty="0"/>
          </a:p>
        </p:txBody>
      </p:sp>
      <p:pic>
        <p:nvPicPr>
          <p:cNvPr id="18" name="Image 7" descr="preencoded.png">    </p:cNvPr>
          <p:cNvPicPr>
            <a:picLocks noChangeAspect="1"/>
          </p:cNvPicPr>
          <p:nvPr/>
        </p:nvPicPr>
        <p:blipFill>
          <a:blip r:embed="rId8"/>
          <a:stretch>
            <a:fillRect/>
          </a:stretch>
        </p:blipFill>
        <p:spPr>
          <a:xfrm>
            <a:off x="640080" y="3822192"/>
            <a:ext cx="201168" cy="201168"/>
          </a:xfrm>
          <a:prstGeom prst="rect">
            <a:avLst/>
          </a:prstGeom>
        </p:spPr>
      </p:pic>
      <p:sp>
        <p:nvSpPr>
          <p:cNvPr id="19" name="Text 9"/>
          <p:cNvSpPr/>
          <p:nvPr/>
        </p:nvSpPr>
        <p:spPr>
          <a:xfrm>
            <a:off x="1005840" y="3785616"/>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Claude-style UI with sidebar navigation and styled delete confirmations</a:t>
            </a:r>
            <a:endParaRPr lang="en-US" sz="1100" dirty="0"/>
          </a:p>
        </p:txBody>
      </p:sp>
      <p:pic>
        <p:nvPicPr>
          <p:cNvPr id="20" name="Image 8" descr="preencoded.png">    </p:cNvPr>
          <p:cNvPicPr>
            <a:picLocks noChangeAspect="1"/>
          </p:cNvPicPr>
          <p:nvPr/>
        </p:nvPicPr>
        <p:blipFill>
          <a:blip r:embed="rId9"/>
          <a:stretch>
            <a:fillRect/>
          </a:stretch>
        </p:blipFill>
        <p:spPr>
          <a:xfrm>
            <a:off x="640080" y="4206240"/>
            <a:ext cx="201168" cy="201168"/>
          </a:xfrm>
          <a:prstGeom prst="rect">
            <a:avLst/>
          </a:prstGeom>
        </p:spPr>
      </p:pic>
      <p:sp>
        <p:nvSpPr>
          <p:cNvPr id="21" name="Text 10"/>
          <p:cNvSpPr/>
          <p:nvPr/>
        </p:nvSpPr>
        <p:spPr>
          <a:xfrm>
            <a:off x="1005840" y="4169664"/>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Dual retrieval: searches with both original and expanded queries, merges results</a:t>
            </a:r>
            <a:endParaRPr lang="en-US" sz="1100" dirty="0"/>
          </a:p>
        </p:txBody>
      </p:sp>
      <p:pic>
        <p:nvPicPr>
          <p:cNvPr id="22" name="Image 9" descr="preencoded.png">    </p:cNvPr>
          <p:cNvPicPr>
            <a:picLocks noChangeAspect="1"/>
          </p:cNvPicPr>
          <p:nvPr/>
        </p:nvPicPr>
        <p:blipFill>
          <a:blip r:embed="rId10"/>
          <a:stretch>
            <a:fillRect/>
          </a:stretch>
        </p:blipFill>
        <p:spPr>
          <a:xfrm>
            <a:off x="640080" y="4590288"/>
            <a:ext cx="201168" cy="201168"/>
          </a:xfrm>
          <a:prstGeom prst="rect">
            <a:avLst/>
          </a:prstGeom>
        </p:spPr>
      </p:pic>
      <p:sp>
        <p:nvSpPr>
          <p:cNvPr id="23" name="Text 11"/>
          <p:cNvSpPr/>
          <p:nvPr/>
        </p:nvSpPr>
        <p:spPr>
          <a:xfrm>
            <a:off x="1005840" y="4553712"/>
            <a:ext cx="7680960" cy="347472"/>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Real-time document indexing — uploaded files are searchable immediately</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Results &amp; Testing</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457200" y="1188720"/>
            <a:ext cx="1920240" cy="1280160"/>
          </a:xfrm>
          <a:prstGeom prst="rect">
            <a:avLst/>
          </a:prstGeom>
          <a:solidFill>
            <a:srgbClr val="3B82F6"/>
          </a:solidFill>
          <a:ln/>
          <a:effectLst>
            <a:outerShdw sx="100000" sy="100000" kx="0" ky="0" algn="bl" rotWithShape="0" blurRad="50800" dist="25400" dir="8100000">
              <a:srgbClr val="000000">
                <a:alpha val="8000"/>
              </a:srgbClr>
            </a:outerShdw>
          </a:effectLst>
        </p:spPr>
      </p:sp>
      <p:sp>
        <p:nvSpPr>
          <p:cNvPr id="5" name="Text 3"/>
          <p:cNvSpPr/>
          <p:nvPr/>
        </p:nvSpPr>
        <p:spPr>
          <a:xfrm>
            <a:off x="457200" y="1234440"/>
            <a:ext cx="19202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79</a:t>
            </a:r>
            <a:endParaRPr lang="en-US" sz="3400" dirty="0"/>
          </a:p>
        </p:txBody>
      </p:sp>
      <p:sp>
        <p:nvSpPr>
          <p:cNvPr id="6" name="Text 4"/>
          <p:cNvSpPr/>
          <p:nvPr/>
        </p:nvSpPr>
        <p:spPr>
          <a:xfrm>
            <a:off x="457200" y="1920240"/>
            <a:ext cx="1920240" cy="457200"/>
          </a:xfrm>
          <a:prstGeom prst="rect">
            <a:avLst/>
          </a:prstGeom>
          <a:noFill/>
          <a:ln/>
        </p:spPr>
        <p:txBody>
          <a:bodyPr wrap="square" lIns="0" tIns="0" rIns="0" bIns="0" rtlCol="0" anchor="ctr"/>
          <a:lstStyle/>
          <a:p>
            <a:pPr algn="ctr" indent="0" marL="0">
              <a:buNone/>
            </a:pPr>
            <a:r>
              <a:rPr lang="en-US" sz="1000" dirty="0">
                <a:solidFill>
                  <a:srgbClr val="D4DCE8"/>
                </a:solidFill>
                <a:latin typeface="Calibri" pitchFamily="34" charset="0"/>
                <a:ea typeface="Calibri" pitchFamily="34" charset="-122"/>
                <a:cs typeface="Calibri" pitchFamily="34" charset="-120"/>
              </a:rPr>
              <a:t>Pages</a:t>
            </a:r>
            <a:endParaRPr lang="en-US" sz="1000" dirty="0"/>
          </a:p>
          <a:p>
            <a:pPr algn="ctr" indent="0" marL="0">
              <a:buNone/>
            </a:pPr>
            <a:r>
              <a:rPr lang="en-US" sz="1000" dirty="0">
                <a:solidFill>
                  <a:srgbClr val="D4DCE8"/>
                </a:solidFill>
                <a:latin typeface="Calibri" pitchFamily="34" charset="0"/>
                <a:ea typeface="Calibri" pitchFamily="34" charset="-122"/>
                <a:cs typeface="Calibri" pitchFamily="34" charset="-120"/>
              </a:rPr>
              <a:t>Indexed</a:t>
            </a:r>
            <a:endParaRPr lang="en-US" sz="1000" dirty="0"/>
          </a:p>
        </p:txBody>
      </p:sp>
      <p:sp>
        <p:nvSpPr>
          <p:cNvPr id="7" name="Shape 5"/>
          <p:cNvSpPr/>
          <p:nvPr/>
        </p:nvSpPr>
        <p:spPr>
          <a:xfrm>
            <a:off x="2651760" y="1188720"/>
            <a:ext cx="1920240" cy="1280160"/>
          </a:xfrm>
          <a:prstGeom prst="rect">
            <a:avLst/>
          </a:prstGeom>
          <a:solidFill>
            <a:srgbClr val="7C3AED"/>
          </a:solidFill>
          <a:ln/>
          <a:effectLst>
            <a:outerShdw sx="100000" sy="100000" kx="0" ky="0" algn="bl" rotWithShape="0" blurRad="50800" dist="25400" dir="8100000">
              <a:srgbClr val="000000">
                <a:alpha val="8000"/>
              </a:srgbClr>
            </a:outerShdw>
          </a:effectLst>
        </p:spPr>
      </p:sp>
      <p:sp>
        <p:nvSpPr>
          <p:cNvPr id="8" name="Text 6"/>
          <p:cNvSpPr/>
          <p:nvPr/>
        </p:nvSpPr>
        <p:spPr>
          <a:xfrm>
            <a:off x="2651760" y="1234440"/>
            <a:ext cx="19202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16</a:t>
            </a:r>
            <a:endParaRPr lang="en-US" sz="3400" dirty="0"/>
          </a:p>
        </p:txBody>
      </p:sp>
      <p:sp>
        <p:nvSpPr>
          <p:cNvPr id="9" name="Text 7"/>
          <p:cNvSpPr/>
          <p:nvPr/>
        </p:nvSpPr>
        <p:spPr>
          <a:xfrm>
            <a:off x="2651760" y="1920240"/>
            <a:ext cx="1920240" cy="457200"/>
          </a:xfrm>
          <a:prstGeom prst="rect">
            <a:avLst/>
          </a:prstGeom>
          <a:noFill/>
          <a:ln/>
        </p:spPr>
        <p:txBody>
          <a:bodyPr wrap="square" lIns="0" tIns="0" rIns="0" bIns="0" rtlCol="0" anchor="ctr"/>
          <a:lstStyle/>
          <a:p>
            <a:pPr algn="ctr" indent="0" marL="0">
              <a:buNone/>
            </a:pPr>
            <a:r>
              <a:rPr lang="en-US" sz="1000" dirty="0">
                <a:solidFill>
                  <a:srgbClr val="D4DCE8"/>
                </a:solidFill>
                <a:latin typeface="Calibri" pitchFamily="34" charset="0"/>
                <a:ea typeface="Calibri" pitchFamily="34" charset="-122"/>
                <a:cs typeface="Calibri" pitchFamily="34" charset="-120"/>
              </a:rPr>
              <a:t>Faculty</a:t>
            </a:r>
            <a:endParaRPr lang="en-US" sz="1000" dirty="0"/>
          </a:p>
          <a:p>
            <a:pPr algn="ctr" indent="0" marL="0">
              <a:buNone/>
            </a:pPr>
            <a:r>
              <a:rPr lang="en-US" sz="1000" dirty="0">
                <a:solidFill>
                  <a:srgbClr val="D4DCE8"/>
                </a:solidFill>
                <a:latin typeface="Calibri" pitchFamily="34" charset="0"/>
                <a:ea typeface="Calibri" pitchFamily="34" charset="-122"/>
                <a:cs typeface="Calibri" pitchFamily="34" charset="-120"/>
              </a:rPr>
              <a:t>Profiles</a:t>
            </a:r>
            <a:endParaRPr lang="en-US" sz="1000" dirty="0"/>
          </a:p>
        </p:txBody>
      </p:sp>
      <p:sp>
        <p:nvSpPr>
          <p:cNvPr id="10" name="Shape 8"/>
          <p:cNvSpPr/>
          <p:nvPr/>
        </p:nvSpPr>
        <p:spPr>
          <a:xfrm>
            <a:off x="4846320" y="1188720"/>
            <a:ext cx="1920240" cy="1280160"/>
          </a:xfrm>
          <a:prstGeom prst="rect">
            <a:avLst/>
          </a:prstGeom>
          <a:solidFill>
            <a:srgbClr val="1E3A5F"/>
          </a:solidFill>
          <a:ln/>
          <a:effectLst>
            <a:outerShdw sx="100000" sy="100000" kx="0" ky="0" algn="bl" rotWithShape="0" blurRad="50800" dist="25400" dir="8100000">
              <a:srgbClr val="000000">
                <a:alpha val="8000"/>
              </a:srgbClr>
            </a:outerShdw>
          </a:effectLst>
        </p:spPr>
      </p:sp>
      <p:sp>
        <p:nvSpPr>
          <p:cNvPr id="11" name="Text 9"/>
          <p:cNvSpPr/>
          <p:nvPr/>
        </p:nvSpPr>
        <p:spPr>
          <a:xfrm>
            <a:off x="4846320" y="1234440"/>
            <a:ext cx="19202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5</a:t>
            </a:r>
            <a:endParaRPr lang="en-US" sz="3400" dirty="0"/>
          </a:p>
        </p:txBody>
      </p:sp>
      <p:sp>
        <p:nvSpPr>
          <p:cNvPr id="12" name="Text 10"/>
          <p:cNvSpPr/>
          <p:nvPr/>
        </p:nvSpPr>
        <p:spPr>
          <a:xfrm>
            <a:off x="4846320" y="1920240"/>
            <a:ext cx="1920240" cy="457200"/>
          </a:xfrm>
          <a:prstGeom prst="rect">
            <a:avLst/>
          </a:prstGeom>
          <a:noFill/>
          <a:ln/>
        </p:spPr>
        <p:txBody>
          <a:bodyPr wrap="square" lIns="0" tIns="0" rIns="0" bIns="0" rtlCol="0" anchor="ctr"/>
          <a:lstStyle/>
          <a:p>
            <a:pPr algn="ctr" indent="0" marL="0">
              <a:buNone/>
            </a:pPr>
            <a:r>
              <a:rPr lang="en-US" sz="1000" dirty="0">
                <a:solidFill>
                  <a:srgbClr val="D4DCE8"/>
                </a:solidFill>
                <a:latin typeface="Calibri" pitchFamily="34" charset="0"/>
                <a:ea typeface="Calibri" pitchFamily="34" charset="-122"/>
                <a:cs typeface="Calibri" pitchFamily="34" charset="-120"/>
              </a:rPr>
              <a:t>Programmes</a:t>
            </a:r>
            <a:endParaRPr lang="en-US" sz="1000" dirty="0"/>
          </a:p>
          <a:p>
            <a:pPr algn="ctr" indent="0" marL="0">
              <a:buNone/>
            </a:pPr>
            <a:r>
              <a:rPr lang="en-US" sz="1000" dirty="0">
                <a:solidFill>
                  <a:srgbClr val="D4DCE8"/>
                </a:solidFill>
                <a:latin typeface="Calibri" pitchFamily="34" charset="0"/>
                <a:ea typeface="Calibri" pitchFamily="34" charset="-122"/>
                <a:cs typeface="Calibri" pitchFamily="34" charset="-120"/>
              </a:rPr>
              <a:t>Covered</a:t>
            </a:r>
            <a:endParaRPr lang="en-US" sz="1000" dirty="0"/>
          </a:p>
        </p:txBody>
      </p:sp>
      <p:sp>
        <p:nvSpPr>
          <p:cNvPr id="13" name="Shape 11"/>
          <p:cNvSpPr/>
          <p:nvPr/>
        </p:nvSpPr>
        <p:spPr>
          <a:xfrm>
            <a:off x="7040880" y="1188720"/>
            <a:ext cx="1920240" cy="1280160"/>
          </a:xfrm>
          <a:prstGeom prst="rect">
            <a:avLst/>
          </a:prstGeom>
          <a:solidFill>
            <a:srgbClr val="10B981"/>
          </a:solidFill>
          <a:ln/>
          <a:effectLst>
            <a:outerShdw sx="100000" sy="100000" kx="0" ky="0" algn="bl" rotWithShape="0" blurRad="50800" dist="25400" dir="8100000">
              <a:srgbClr val="000000">
                <a:alpha val="8000"/>
              </a:srgbClr>
            </a:outerShdw>
          </a:effectLst>
        </p:spPr>
      </p:sp>
      <p:sp>
        <p:nvSpPr>
          <p:cNvPr id="14" name="Text 12"/>
          <p:cNvSpPr/>
          <p:nvPr/>
        </p:nvSpPr>
        <p:spPr>
          <a:xfrm>
            <a:off x="7040880" y="1234440"/>
            <a:ext cx="1920240" cy="640080"/>
          </a:xfrm>
          <a:prstGeom prst="rect">
            <a:avLst/>
          </a:prstGeom>
          <a:noFill/>
          <a:ln/>
        </p:spPr>
        <p:txBody>
          <a:bodyPr wrap="square" lIns="0" tIns="0" rIns="0" bIns="0"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24/7</a:t>
            </a:r>
            <a:endParaRPr lang="en-US" sz="3400" dirty="0"/>
          </a:p>
        </p:txBody>
      </p:sp>
      <p:sp>
        <p:nvSpPr>
          <p:cNvPr id="15" name="Text 13"/>
          <p:cNvSpPr/>
          <p:nvPr/>
        </p:nvSpPr>
        <p:spPr>
          <a:xfrm>
            <a:off x="7040880" y="1920240"/>
            <a:ext cx="1920240" cy="457200"/>
          </a:xfrm>
          <a:prstGeom prst="rect">
            <a:avLst/>
          </a:prstGeom>
          <a:noFill/>
          <a:ln/>
        </p:spPr>
        <p:txBody>
          <a:bodyPr wrap="square" lIns="0" tIns="0" rIns="0" bIns="0" rtlCol="0" anchor="ctr"/>
          <a:lstStyle/>
          <a:p>
            <a:pPr algn="ctr" indent="0" marL="0">
              <a:buNone/>
            </a:pPr>
            <a:r>
              <a:rPr lang="en-US" sz="1000" dirty="0">
                <a:solidFill>
                  <a:srgbClr val="D4DCE8"/>
                </a:solidFill>
                <a:latin typeface="Calibri" pitchFamily="34" charset="0"/>
                <a:ea typeface="Calibri" pitchFamily="34" charset="-122"/>
                <a:cs typeface="Calibri" pitchFamily="34" charset="-120"/>
              </a:rPr>
              <a:t>Availability</a:t>
            </a:r>
            <a:endParaRPr lang="en-US" sz="1000" dirty="0"/>
          </a:p>
        </p:txBody>
      </p:sp>
      <p:sp>
        <p:nvSpPr>
          <p:cNvPr id="16" name="Text 14"/>
          <p:cNvSpPr/>
          <p:nvPr/>
        </p:nvSpPr>
        <p:spPr>
          <a:xfrm>
            <a:off x="457200" y="2743200"/>
            <a:ext cx="3657600" cy="320040"/>
          </a:xfrm>
          <a:prstGeom prst="rect">
            <a:avLst/>
          </a:prstGeom>
          <a:noFill/>
          <a:ln/>
        </p:spPr>
        <p:txBody>
          <a:bodyPr wrap="square" lIns="0" tIns="0" rIns="0" bIns="0" rtlCol="0" anchor="ctr"/>
          <a:lstStyle/>
          <a:p>
            <a:pPr indent="0" marL="0">
              <a:buNone/>
            </a:pPr>
            <a:r>
              <a:rPr lang="en-US" sz="1400" b="1" dirty="0">
                <a:solidFill>
                  <a:srgbClr val="0F172A"/>
                </a:solidFill>
                <a:latin typeface="Trebuchet MS" pitchFamily="34" charset="0"/>
                <a:ea typeface="Trebuchet MS" pitchFamily="34" charset="-122"/>
                <a:cs typeface="Trebuchet MS" pitchFamily="34" charset="-120"/>
              </a:rPr>
              <a:t>Sample Queries Tested</a:t>
            </a:r>
            <a:endParaRPr lang="en-US" sz="1400" dirty="0"/>
          </a:p>
        </p:txBody>
      </p:sp>
      <p:pic>
        <p:nvPicPr>
          <p:cNvPr id="17" name="Image 0" descr="preencoded.png">    </p:cNvPr>
          <p:cNvPicPr>
            <a:picLocks noChangeAspect="1"/>
          </p:cNvPicPr>
          <p:nvPr/>
        </p:nvPicPr>
        <p:blipFill>
          <a:blip r:embed="rId1"/>
          <a:stretch>
            <a:fillRect/>
          </a:stretch>
        </p:blipFill>
        <p:spPr>
          <a:xfrm>
            <a:off x="548640" y="3172968"/>
            <a:ext cx="182880" cy="182880"/>
          </a:xfrm>
          <a:prstGeom prst="rect">
            <a:avLst/>
          </a:prstGeom>
        </p:spPr>
      </p:pic>
      <p:sp>
        <p:nvSpPr>
          <p:cNvPr id="18" name="Text 15"/>
          <p:cNvSpPr/>
          <p:nvPr/>
        </p:nvSpPr>
        <p:spPr>
          <a:xfrm>
            <a:off x="868680" y="3154680"/>
            <a:ext cx="411480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Who is the Head of Department?</a:t>
            </a:r>
            <a:endParaRPr lang="en-US" sz="1000" dirty="0"/>
          </a:p>
        </p:txBody>
      </p:sp>
      <p:sp>
        <p:nvSpPr>
          <p:cNvPr id="19" name="Text 16"/>
          <p:cNvSpPr/>
          <p:nvPr/>
        </p:nvSpPr>
        <p:spPr>
          <a:xfrm>
            <a:off x="5029200" y="3154680"/>
            <a:ext cx="3657600" cy="27432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Dr. Madhu S. Nair, Professor &amp; Head</a:t>
            </a:r>
            <a:endParaRPr lang="en-US" sz="1000" dirty="0"/>
          </a:p>
        </p:txBody>
      </p:sp>
      <p:pic>
        <p:nvPicPr>
          <p:cNvPr id="20" name="Image 1" descr="preencoded.png">    </p:cNvPr>
          <p:cNvPicPr>
            <a:picLocks noChangeAspect="1"/>
          </p:cNvPicPr>
          <p:nvPr/>
        </p:nvPicPr>
        <p:blipFill>
          <a:blip r:embed="rId2"/>
          <a:stretch>
            <a:fillRect/>
          </a:stretch>
        </p:blipFill>
        <p:spPr>
          <a:xfrm>
            <a:off x="548640" y="3493008"/>
            <a:ext cx="182880" cy="182880"/>
          </a:xfrm>
          <a:prstGeom prst="rect">
            <a:avLst/>
          </a:prstGeom>
        </p:spPr>
      </p:pic>
      <p:sp>
        <p:nvSpPr>
          <p:cNvPr id="21" name="Text 17"/>
          <p:cNvSpPr/>
          <p:nvPr/>
        </p:nvSpPr>
        <p:spPr>
          <a:xfrm>
            <a:off x="868680" y="3474720"/>
            <a:ext cx="411480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What programmes are offered?</a:t>
            </a:r>
            <a:endParaRPr lang="en-US" sz="1000" dirty="0"/>
          </a:p>
        </p:txBody>
      </p:sp>
      <p:sp>
        <p:nvSpPr>
          <p:cNvPr id="22" name="Text 18"/>
          <p:cNvSpPr/>
          <p:nvPr/>
        </p:nvSpPr>
        <p:spPr>
          <a:xfrm>
            <a:off x="5029200" y="3474720"/>
            <a:ext cx="3657600" cy="27432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5 programmes listed correctly</a:t>
            </a:r>
            <a:endParaRPr lang="en-US" sz="1000" dirty="0"/>
          </a:p>
        </p:txBody>
      </p:sp>
      <p:pic>
        <p:nvPicPr>
          <p:cNvPr id="23" name="Image 2" descr="preencoded.png">    </p:cNvPr>
          <p:cNvPicPr>
            <a:picLocks noChangeAspect="1"/>
          </p:cNvPicPr>
          <p:nvPr/>
        </p:nvPicPr>
        <p:blipFill>
          <a:blip r:embed="rId3"/>
          <a:stretch>
            <a:fillRect/>
          </a:stretch>
        </p:blipFill>
        <p:spPr>
          <a:xfrm>
            <a:off x="548640" y="3813048"/>
            <a:ext cx="182880" cy="182880"/>
          </a:xfrm>
          <a:prstGeom prst="rect">
            <a:avLst/>
          </a:prstGeom>
        </p:spPr>
      </p:pic>
      <p:sp>
        <p:nvSpPr>
          <p:cNvPr id="24" name="Text 19"/>
          <p:cNvSpPr/>
          <p:nvPr/>
        </p:nvSpPr>
        <p:spPr>
          <a:xfrm>
            <a:off x="868680" y="3794760"/>
            <a:ext cx="411480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What are the M.Tech fee details?</a:t>
            </a:r>
            <a:endParaRPr lang="en-US" sz="1000" dirty="0"/>
          </a:p>
        </p:txBody>
      </p:sp>
      <p:sp>
        <p:nvSpPr>
          <p:cNvPr id="25" name="Text 20"/>
          <p:cNvSpPr/>
          <p:nvPr/>
        </p:nvSpPr>
        <p:spPr>
          <a:xfrm>
            <a:off x="5029200" y="3794760"/>
            <a:ext cx="3657600" cy="27432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Complete fee breakdown provided</a:t>
            </a:r>
            <a:endParaRPr lang="en-US" sz="1000" dirty="0"/>
          </a:p>
        </p:txBody>
      </p:sp>
      <p:pic>
        <p:nvPicPr>
          <p:cNvPr id="26" name="Image 3" descr="preencoded.png">    </p:cNvPr>
          <p:cNvPicPr>
            <a:picLocks noChangeAspect="1"/>
          </p:cNvPicPr>
          <p:nvPr/>
        </p:nvPicPr>
        <p:blipFill>
          <a:blip r:embed="rId4"/>
          <a:stretch>
            <a:fillRect/>
          </a:stretch>
        </p:blipFill>
        <p:spPr>
          <a:xfrm>
            <a:off x="548640" y="4133088"/>
            <a:ext cx="182880" cy="182880"/>
          </a:xfrm>
          <a:prstGeom prst="rect">
            <a:avLst/>
          </a:prstGeom>
        </p:spPr>
      </p:pic>
      <p:sp>
        <p:nvSpPr>
          <p:cNvPr id="27" name="Text 21"/>
          <p:cNvSpPr/>
          <p:nvPr/>
        </p:nvSpPr>
        <p:spPr>
          <a:xfrm>
            <a:off x="868680" y="4114800"/>
            <a:ext cx="411480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List all faculty members</a:t>
            </a:r>
            <a:endParaRPr lang="en-US" sz="1000" dirty="0"/>
          </a:p>
        </p:txBody>
      </p:sp>
      <p:sp>
        <p:nvSpPr>
          <p:cNvPr id="28" name="Text 22"/>
          <p:cNvSpPr/>
          <p:nvPr/>
        </p:nvSpPr>
        <p:spPr>
          <a:xfrm>
            <a:off x="5029200" y="4114800"/>
            <a:ext cx="3657600" cy="27432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All 16 faculty listed with designations</a:t>
            </a:r>
            <a:endParaRPr lang="en-US" sz="1000" dirty="0"/>
          </a:p>
        </p:txBody>
      </p:sp>
      <p:pic>
        <p:nvPicPr>
          <p:cNvPr id="29" name="Image 4" descr="preencoded.png">    </p:cNvPr>
          <p:cNvPicPr>
            <a:picLocks noChangeAspect="1"/>
          </p:cNvPicPr>
          <p:nvPr/>
        </p:nvPicPr>
        <p:blipFill>
          <a:blip r:embed="rId5"/>
          <a:stretch>
            <a:fillRect/>
          </a:stretch>
        </p:blipFill>
        <p:spPr>
          <a:xfrm>
            <a:off x="548640" y="4453128"/>
            <a:ext cx="182880" cy="182880"/>
          </a:xfrm>
          <a:prstGeom prst="rect">
            <a:avLst/>
          </a:prstGeom>
        </p:spPr>
      </p:pic>
      <p:sp>
        <p:nvSpPr>
          <p:cNvPr id="30" name="Text 23"/>
          <p:cNvSpPr/>
          <p:nvPr/>
        </p:nvSpPr>
        <p:spPr>
          <a:xfrm>
            <a:off x="868680" y="4434840"/>
            <a:ext cx="411480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What are the research areas?</a:t>
            </a:r>
            <a:endParaRPr lang="en-US" sz="1000" dirty="0"/>
          </a:p>
        </p:txBody>
      </p:sp>
      <p:sp>
        <p:nvSpPr>
          <p:cNvPr id="31" name="Text 24"/>
          <p:cNvSpPr/>
          <p:nvPr/>
        </p:nvSpPr>
        <p:spPr>
          <a:xfrm>
            <a:off x="5029200" y="4434840"/>
            <a:ext cx="3657600" cy="27432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All areas + 6 labs listed</a:t>
            </a:r>
            <a:endParaRPr lang="en-US" sz="1000" dirty="0"/>
          </a:p>
        </p:txBody>
      </p:sp>
      <p:pic>
        <p:nvPicPr>
          <p:cNvPr id="32" name="Image 5" descr="preencoded.png">    </p:cNvPr>
          <p:cNvPicPr>
            <a:picLocks noChangeAspect="1"/>
          </p:cNvPicPr>
          <p:nvPr/>
        </p:nvPicPr>
        <p:blipFill>
          <a:blip r:embed="rId6"/>
          <a:stretch>
            <a:fillRect/>
          </a:stretch>
        </p:blipFill>
        <p:spPr>
          <a:xfrm>
            <a:off x="548640" y="4773168"/>
            <a:ext cx="182880" cy="182880"/>
          </a:xfrm>
          <a:prstGeom prst="rect">
            <a:avLst/>
          </a:prstGeom>
        </p:spPr>
      </p:pic>
      <p:sp>
        <p:nvSpPr>
          <p:cNvPr id="33" name="Text 25"/>
          <p:cNvSpPr/>
          <p:nvPr/>
        </p:nvSpPr>
        <p:spPr>
          <a:xfrm>
            <a:off x="868680" y="4754880"/>
            <a:ext cx="411480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How many faculty members?</a:t>
            </a:r>
            <a:endParaRPr lang="en-US" sz="1000" dirty="0"/>
          </a:p>
        </p:txBody>
      </p:sp>
      <p:sp>
        <p:nvSpPr>
          <p:cNvPr id="34" name="Text 26"/>
          <p:cNvSpPr/>
          <p:nvPr/>
        </p:nvSpPr>
        <p:spPr>
          <a:xfrm>
            <a:off x="5029200" y="4754880"/>
            <a:ext cx="3657600" cy="274320"/>
          </a:xfrm>
          <a:prstGeom prst="rect">
            <a:avLst/>
          </a:prstGeom>
          <a:noFill/>
          <a:ln/>
        </p:spPr>
        <p:txBody>
          <a:bodyPr wrap="square" lIns="0" tIns="0" rIns="0" bIns="0" rtlCol="0" anchor="ctr"/>
          <a:lstStyle/>
          <a:p>
            <a:pPr indent="0" marL="0">
              <a:buNone/>
            </a:pPr>
            <a:r>
              <a:rPr lang="en-US" sz="1000" dirty="0">
                <a:solidFill>
                  <a:srgbClr val="10B981"/>
                </a:solidFill>
                <a:latin typeface="Calibri" pitchFamily="34" charset="0"/>
                <a:ea typeface="Calibri" pitchFamily="34" charset="-122"/>
                <a:cs typeface="Calibri" pitchFamily="34" charset="-120"/>
              </a:rPr>
              <a:t>Answered with count: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Challenges &amp; Solutions</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457200" y="1097280"/>
            <a:ext cx="3931920" cy="640080"/>
          </a:xfrm>
          <a:prstGeom prst="rect">
            <a:avLst/>
          </a:prstGeom>
          <a:solidFill>
            <a:srgbClr val="FEF2F2"/>
          </a:solidFill>
          <a:ln/>
        </p:spPr>
      </p:sp>
      <p:sp>
        <p:nvSpPr>
          <p:cNvPr id="5" name="Text 3"/>
          <p:cNvSpPr/>
          <p:nvPr/>
        </p:nvSpPr>
        <p:spPr>
          <a:xfrm>
            <a:off x="640080" y="1188720"/>
            <a:ext cx="3566160" cy="457200"/>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PDF tables extracted as jumbled text</a:t>
            </a:r>
            <a:endParaRPr lang="en-US" sz="1000" dirty="0"/>
          </a:p>
        </p:txBody>
      </p:sp>
      <p:sp>
        <p:nvSpPr>
          <p:cNvPr id="6" name="Shape 4"/>
          <p:cNvSpPr/>
          <p:nvPr/>
        </p:nvSpPr>
        <p:spPr>
          <a:xfrm>
            <a:off x="4754880" y="1097280"/>
            <a:ext cx="3931920" cy="640080"/>
          </a:xfrm>
          <a:prstGeom prst="rect">
            <a:avLst/>
          </a:prstGeom>
          <a:solidFill>
            <a:srgbClr val="F0FDF4"/>
          </a:solidFill>
          <a:ln/>
        </p:spPr>
      </p:sp>
      <p:sp>
        <p:nvSpPr>
          <p:cNvPr id="7" name="Text 5"/>
          <p:cNvSpPr/>
          <p:nvPr/>
        </p:nvSpPr>
        <p:spPr>
          <a:xfrm>
            <a:off x="4937760" y="1188720"/>
            <a:ext cx="3566160" cy="457200"/>
          </a:xfrm>
          <a:prstGeom prst="rect">
            <a:avLst/>
          </a:prstGeom>
          <a:noFill/>
          <a:ln/>
        </p:spPr>
        <p:txBody>
          <a:bodyPr wrap="square" lIns="0" tIns="0" rIns="0" bIns="0" rtlCol="0" anchor="ctr"/>
          <a:lstStyle/>
          <a:p>
            <a:pPr indent="0" marL="0">
              <a:lnSpc>
                <a:spcPct val="120000"/>
              </a:lnSpc>
              <a:buNone/>
            </a:pPr>
            <a:r>
              <a:rPr lang="en-US" sz="1000" dirty="0">
                <a:solidFill>
                  <a:srgbClr val="0D9488"/>
                </a:solidFill>
                <a:latin typeface="Calibri" pitchFamily="34" charset="0"/>
                <a:ea typeface="Calibri" pitchFamily="34" charset="-122"/>
                <a:cs typeface="Calibri" pitchFamily="34" charset="-120"/>
              </a:rPr>
              <a:t>Short-line merging algorithm that keeps table rows together; section-aware summary chunks for key data</a:t>
            </a:r>
            <a:endParaRPr lang="en-US" sz="1000" dirty="0"/>
          </a:p>
        </p:txBody>
      </p:sp>
      <p:sp>
        <p:nvSpPr>
          <p:cNvPr id="8" name="Shape 6"/>
          <p:cNvSpPr/>
          <p:nvPr/>
        </p:nvSpPr>
        <p:spPr>
          <a:xfrm>
            <a:off x="457200" y="1874520"/>
            <a:ext cx="3931920" cy="640080"/>
          </a:xfrm>
          <a:prstGeom prst="rect">
            <a:avLst/>
          </a:prstGeom>
          <a:solidFill>
            <a:srgbClr val="FEF2F2"/>
          </a:solidFill>
          <a:ln/>
        </p:spPr>
      </p:sp>
      <p:sp>
        <p:nvSpPr>
          <p:cNvPr id="9" name="Text 7"/>
          <p:cNvSpPr/>
          <p:nvPr/>
        </p:nvSpPr>
        <p:spPr>
          <a:xfrm>
            <a:off x="640080" y="1965960"/>
            <a:ext cx="3566160" cy="457200"/>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LLM repeating similar information</a:t>
            </a:r>
            <a:endParaRPr lang="en-US" sz="1000" dirty="0"/>
          </a:p>
        </p:txBody>
      </p:sp>
      <p:sp>
        <p:nvSpPr>
          <p:cNvPr id="10" name="Shape 8"/>
          <p:cNvSpPr/>
          <p:nvPr/>
        </p:nvSpPr>
        <p:spPr>
          <a:xfrm>
            <a:off x="4754880" y="1874520"/>
            <a:ext cx="3931920" cy="640080"/>
          </a:xfrm>
          <a:prstGeom prst="rect">
            <a:avLst/>
          </a:prstGeom>
          <a:solidFill>
            <a:srgbClr val="F0FDF4"/>
          </a:solidFill>
          <a:ln/>
        </p:spPr>
      </p:sp>
      <p:sp>
        <p:nvSpPr>
          <p:cNvPr id="11" name="Text 9"/>
          <p:cNvSpPr/>
          <p:nvPr/>
        </p:nvSpPr>
        <p:spPr>
          <a:xfrm>
            <a:off x="4937760" y="1965960"/>
            <a:ext cx="3566160" cy="457200"/>
          </a:xfrm>
          <a:prstGeom prst="rect">
            <a:avLst/>
          </a:prstGeom>
          <a:noFill/>
          <a:ln/>
        </p:spPr>
        <p:txBody>
          <a:bodyPr wrap="square" lIns="0" tIns="0" rIns="0" bIns="0" rtlCol="0" anchor="ctr"/>
          <a:lstStyle/>
          <a:p>
            <a:pPr indent="0" marL="0">
              <a:lnSpc>
                <a:spcPct val="120000"/>
              </a:lnSpc>
              <a:buNone/>
            </a:pPr>
            <a:r>
              <a:rPr lang="en-US" sz="1000" dirty="0">
                <a:solidFill>
                  <a:srgbClr val="0D9488"/>
                </a:solidFill>
                <a:latin typeface="Calibri" pitchFamily="34" charset="0"/>
                <a:ea typeface="Calibri" pitchFamily="34" charset="-122"/>
                <a:cs typeface="Calibri" pitchFamily="34" charset="-120"/>
              </a:rPr>
              <a:t>Removed duplicate source PDFs; clean single source of truth; minimal prompting lets LLM think naturally</a:t>
            </a:r>
            <a:endParaRPr lang="en-US" sz="1000" dirty="0"/>
          </a:p>
        </p:txBody>
      </p:sp>
      <p:sp>
        <p:nvSpPr>
          <p:cNvPr id="12" name="Shape 10"/>
          <p:cNvSpPr/>
          <p:nvPr/>
        </p:nvSpPr>
        <p:spPr>
          <a:xfrm>
            <a:off x="457200" y="2651760"/>
            <a:ext cx="3931920" cy="640080"/>
          </a:xfrm>
          <a:prstGeom prst="rect">
            <a:avLst/>
          </a:prstGeom>
          <a:solidFill>
            <a:srgbClr val="FEF2F2"/>
          </a:solidFill>
          <a:ln/>
        </p:spPr>
      </p:sp>
      <p:sp>
        <p:nvSpPr>
          <p:cNvPr id="13" name="Text 11"/>
          <p:cNvSpPr/>
          <p:nvPr/>
        </p:nvSpPr>
        <p:spPr>
          <a:xfrm>
            <a:off x="640080" y="2743200"/>
            <a:ext cx="3566160" cy="457200"/>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Retrieval missing relevant chunks</a:t>
            </a:r>
            <a:endParaRPr lang="en-US" sz="1000" dirty="0"/>
          </a:p>
        </p:txBody>
      </p:sp>
      <p:sp>
        <p:nvSpPr>
          <p:cNvPr id="14" name="Shape 12"/>
          <p:cNvSpPr/>
          <p:nvPr/>
        </p:nvSpPr>
        <p:spPr>
          <a:xfrm>
            <a:off x="4754880" y="2651760"/>
            <a:ext cx="3931920" cy="640080"/>
          </a:xfrm>
          <a:prstGeom prst="rect">
            <a:avLst/>
          </a:prstGeom>
          <a:solidFill>
            <a:srgbClr val="F0FDF4"/>
          </a:solidFill>
          <a:ln/>
        </p:spPr>
      </p:sp>
      <p:sp>
        <p:nvSpPr>
          <p:cNvPr id="15" name="Text 13"/>
          <p:cNvSpPr/>
          <p:nvPr/>
        </p:nvSpPr>
        <p:spPr>
          <a:xfrm>
            <a:off x="4937760" y="2743200"/>
            <a:ext cx="3566160" cy="457200"/>
          </a:xfrm>
          <a:prstGeom prst="rect">
            <a:avLst/>
          </a:prstGeom>
          <a:noFill/>
          <a:ln/>
        </p:spPr>
        <p:txBody>
          <a:bodyPr wrap="square" lIns="0" tIns="0" rIns="0" bIns="0" rtlCol="0" anchor="ctr"/>
          <a:lstStyle/>
          <a:p>
            <a:pPr indent="0" marL="0">
              <a:lnSpc>
                <a:spcPct val="120000"/>
              </a:lnSpc>
              <a:buNone/>
            </a:pPr>
            <a:r>
              <a:rPr lang="en-US" sz="1000" dirty="0">
                <a:solidFill>
                  <a:srgbClr val="0D9488"/>
                </a:solidFill>
                <a:latin typeface="Calibri" pitchFamily="34" charset="0"/>
                <a:ea typeface="Calibri" pitchFamily="34" charset="-122"/>
                <a:cs typeface="Calibri" pitchFamily="34" charset="-120"/>
              </a:rPr>
              <a:t>Hybrid search (semantic + keyword); dual query search with original + expanded query; overlap chunking</a:t>
            </a:r>
            <a:endParaRPr lang="en-US" sz="1000" dirty="0"/>
          </a:p>
        </p:txBody>
      </p:sp>
      <p:sp>
        <p:nvSpPr>
          <p:cNvPr id="16" name="Shape 14"/>
          <p:cNvSpPr/>
          <p:nvPr/>
        </p:nvSpPr>
        <p:spPr>
          <a:xfrm>
            <a:off x="457200" y="3429000"/>
            <a:ext cx="3931920" cy="640080"/>
          </a:xfrm>
          <a:prstGeom prst="rect">
            <a:avLst/>
          </a:prstGeom>
          <a:solidFill>
            <a:srgbClr val="FEF2F2"/>
          </a:solidFill>
          <a:ln/>
        </p:spPr>
      </p:sp>
      <p:sp>
        <p:nvSpPr>
          <p:cNvPr id="17" name="Text 15"/>
          <p:cNvSpPr/>
          <p:nvPr/>
        </p:nvSpPr>
        <p:spPr>
          <a:xfrm>
            <a:off x="640080" y="3520440"/>
            <a:ext cx="3566160" cy="457200"/>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Chat history lost on page refresh</a:t>
            </a:r>
            <a:endParaRPr lang="en-US" sz="1000" dirty="0"/>
          </a:p>
        </p:txBody>
      </p:sp>
      <p:sp>
        <p:nvSpPr>
          <p:cNvPr id="18" name="Shape 16"/>
          <p:cNvSpPr/>
          <p:nvPr/>
        </p:nvSpPr>
        <p:spPr>
          <a:xfrm>
            <a:off x="4754880" y="3429000"/>
            <a:ext cx="3931920" cy="640080"/>
          </a:xfrm>
          <a:prstGeom prst="rect">
            <a:avLst/>
          </a:prstGeom>
          <a:solidFill>
            <a:srgbClr val="F0FDF4"/>
          </a:solidFill>
          <a:ln/>
        </p:spPr>
      </p:sp>
      <p:sp>
        <p:nvSpPr>
          <p:cNvPr id="19" name="Text 17"/>
          <p:cNvSpPr/>
          <p:nvPr/>
        </p:nvSpPr>
        <p:spPr>
          <a:xfrm>
            <a:off x="4937760" y="3520440"/>
            <a:ext cx="3566160" cy="457200"/>
          </a:xfrm>
          <a:prstGeom prst="rect">
            <a:avLst/>
          </a:prstGeom>
          <a:noFill/>
          <a:ln/>
        </p:spPr>
        <p:txBody>
          <a:bodyPr wrap="square" lIns="0" tIns="0" rIns="0" bIns="0" rtlCol="0" anchor="ctr"/>
          <a:lstStyle/>
          <a:p>
            <a:pPr indent="0" marL="0">
              <a:lnSpc>
                <a:spcPct val="120000"/>
              </a:lnSpc>
              <a:buNone/>
            </a:pPr>
            <a:r>
              <a:rPr lang="en-US" sz="1000" dirty="0">
                <a:solidFill>
                  <a:srgbClr val="0D9488"/>
                </a:solidFill>
                <a:latin typeface="Calibri" pitchFamily="34" charset="0"/>
                <a:ea typeface="Calibri" pitchFamily="34" charset="-122"/>
                <a:cs typeface="Calibri" pitchFamily="34" charset="-120"/>
              </a:rPr>
              <a:t>SQLite database for server-side persistence; conversation_id tracked per session; frontend loads from API on page load</a:t>
            </a:r>
            <a:endParaRPr lang="en-US" sz="1000" dirty="0"/>
          </a:p>
        </p:txBody>
      </p:sp>
      <p:sp>
        <p:nvSpPr>
          <p:cNvPr id="20" name="Shape 18"/>
          <p:cNvSpPr/>
          <p:nvPr/>
        </p:nvSpPr>
        <p:spPr>
          <a:xfrm>
            <a:off x="457200" y="4206240"/>
            <a:ext cx="3931920" cy="640080"/>
          </a:xfrm>
          <a:prstGeom prst="rect">
            <a:avLst/>
          </a:prstGeom>
          <a:solidFill>
            <a:srgbClr val="FEF2F2"/>
          </a:solidFill>
          <a:ln/>
        </p:spPr>
      </p:sp>
      <p:sp>
        <p:nvSpPr>
          <p:cNvPr id="21" name="Text 19"/>
          <p:cNvSpPr/>
          <p:nvPr/>
        </p:nvSpPr>
        <p:spPr>
          <a:xfrm>
            <a:off x="640080" y="4297680"/>
            <a:ext cx="3566160" cy="457200"/>
          </a:xfrm>
          <a:prstGeom prst="rect">
            <a:avLst/>
          </a:prstGeom>
          <a:noFill/>
          <a:ln/>
        </p:spPr>
        <p:txBody>
          <a:bodyPr wrap="square" lIns="0" tIns="0" rIns="0" bIns="0" rtlCol="0" anchor="ctr"/>
          <a:lstStyle/>
          <a:p>
            <a:pPr indent="0" marL="0">
              <a:buNone/>
            </a:pPr>
            <a:r>
              <a:rPr lang="en-US" sz="1000" dirty="0">
                <a:solidFill>
                  <a:srgbClr val="EF4444"/>
                </a:solidFill>
                <a:latin typeface="Calibri" pitchFamily="34" charset="0"/>
                <a:ea typeface="Calibri" pitchFamily="34" charset="-122"/>
                <a:cs typeface="Calibri" pitchFamily="34" charset="-120"/>
              </a:rPr>
              <a:t>Staff uploading conflicting documents</a:t>
            </a:r>
            <a:endParaRPr lang="en-US" sz="1000" dirty="0"/>
          </a:p>
        </p:txBody>
      </p:sp>
      <p:sp>
        <p:nvSpPr>
          <p:cNvPr id="22" name="Shape 20"/>
          <p:cNvSpPr/>
          <p:nvPr/>
        </p:nvSpPr>
        <p:spPr>
          <a:xfrm>
            <a:off x="4754880" y="4206240"/>
            <a:ext cx="3931920" cy="640080"/>
          </a:xfrm>
          <a:prstGeom prst="rect">
            <a:avLst/>
          </a:prstGeom>
          <a:solidFill>
            <a:srgbClr val="F0FDF4"/>
          </a:solidFill>
          <a:ln/>
        </p:spPr>
      </p:sp>
      <p:sp>
        <p:nvSpPr>
          <p:cNvPr id="23" name="Text 21"/>
          <p:cNvSpPr/>
          <p:nvPr/>
        </p:nvSpPr>
        <p:spPr>
          <a:xfrm>
            <a:off x="4937760" y="4297680"/>
            <a:ext cx="3566160" cy="457200"/>
          </a:xfrm>
          <a:prstGeom prst="rect">
            <a:avLst/>
          </a:prstGeom>
          <a:noFill/>
          <a:ln/>
        </p:spPr>
        <p:txBody>
          <a:bodyPr wrap="square" lIns="0" tIns="0" rIns="0" bIns="0" rtlCol="0" anchor="ctr"/>
          <a:lstStyle/>
          <a:p>
            <a:pPr indent="0" marL="0">
              <a:lnSpc>
                <a:spcPct val="120000"/>
              </a:lnSpc>
              <a:buNone/>
            </a:pPr>
            <a:r>
              <a:rPr lang="en-US" sz="1000" dirty="0">
                <a:solidFill>
                  <a:srgbClr val="0D9488"/>
                </a:solidFill>
                <a:latin typeface="Calibri" pitchFamily="34" charset="0"/>
                <a:ea typeface="Calibri" pitchFamily="34" charset="-122"/>
                <a:cs typeface="Calibri" pitchFamily="34" charset="-120"/>
              </a:rPr>
              <a:t>Document management panel with delete capability; re-ingestion clears old vectors; single source of truth approach</a:t>
            </a:r>
            <a:endParaRPr lang="en-US" sz="1000" dirty="0"/>
          </a:p>
        </p:txBody>
      </p:sp>
      <p:sp>
        <p:nvSpPr>
          <p:cNvPr id="24" name="Text 22"/>
          <p:cNvSpPr/>
          <p:nvPr/>
        </p:nvSpPr>
        <p:spPr>
          <a:xfrm>
            <a:off x="1371600" y="868680"/>
            <a:ext cx="1828800" cy="274320"/>
          </a:xfrm>
          <a:prstGeom prst="rect">
            <a:avLst/>
          </a:prstGeom>
          <a:noFill/>
          <a:ln/>
        </p:spPr>
        <p:txBody>
          <a:bodyPr wrap="square" lIns="0" tIns="0" rIns="0" bIns="0" rtlCol="0" anchor="ctr"/>
          <a:lstStyle/>
          <a:p>
            <a:pPr algn="ctr" indent="0" marL="0">
              <a:buNone/>
            </a:pPr>
            <a:r>
              <a:rPr lang="en-US" sz="1100" b="1" dirty="0">
                <a:solidFill>
                  <a:srgbClr val="EF4444"/>
                </a:solidFill>
                <a:latin typeface="Trebuchet MS" pitchFamily="34" charset="0"/>
                <a:ea typeface="Trebuchet MS" pitchFamily="34" charset="-122"/>
                <a:cs typeface="Trebuchet MS" pitchFamily="34" charset="-120"/>
              </a:rPr>
              <a:t>Challenge</a:t>
            </a:r>
            <a:endParaRPr lang="en-US" sz="1100" dirty="0"/>
          </a:p>
        </p:txBody>
      </p:sp>
      <p:sp>
        <p:nvSpPr>
          <p:cNvPr id="25" name="Text 23"/>
          <p:cNvSpPr/>
          <p:nvPr/>
        </p:nvSpPr>
        <p:spPr>
          <a:xfrm>
            <a:off x="5486400" y="868680"/>
            <a:ext cx="1828800" cy="274320"/>
          </a:xfrm>
          <a:prstGeom prst="rect">
            <a:avLst/>
          </a:prstGeom>
          <a:noFill/>
          <a:ln/>
        </p:spPr>
        <p:txBody>
          <a:bodyPr wrap="square" lIns="0" tIns="0" rIns="0" bIns="0" rtlCol="0" anchor="ctr"/>
          <a:lstStyle/>
          <a:p>
            <a:pPr algn="ctr" indent="0" marL="0">
              <a:buNone/>
            </a:pPr>
            <a:r>
              <a:rPr lang="en-US" sz="1100" b="1" dirty="0">
                <a:solidFill>
                  <a:srgbClr val="0D9488"/>
                </a:solidFill>
                <a:latin typeface="Trebuchet MS" pitchFamily="34" charset="0"/>
                <a:ea typeface="Trebuchet MS" pitchFamily="34" charset="-122"/>
                <a:cs typeface="Trebuchet MS" pitchFamily="34" charset="-120"/>
              </a:rPr>
              <a:t>Solution</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20040"/>
            <a:ext cx="7772400" cy="548640"/>
          </a:xfrm>
          <a:prstGeom prst="rect">
            <a:avLst/>
          </a:prstGeom>
          <a:noFill/>
          <a:ln/>
        </p:spPr>
        <p:txBody>
          <a:bodyPr wrap="square" lIns="0" tIns="0" rIns="0" bIns="0" rtlCol="0" anchor="ctr"/>
          <a:lstStyle/>
          <a:p>
            <a:pPr indent="0" marL="0">
              <a:buNone/>
            </a:pPr>
            <a:r>
              <a:rPr lang="en-US" sz="3000" b="1" dirty="0">
                <a:solidFill>
                  <a:srgbClr val="0F172A"/>
                </a:solidFill>
                <a:latin typeface="Trebuchet MS" pitchFamily="34" charset="0"/>
                <a:ea typeface="Trebuchet MS" pitchFamily="34" charset="-122"/>
                <a:cs typeface="Trebuchet MS" pitchFamily="34" charset="-120"/>
              </a:rPr>
              <a:t>Future Scope</a:t>
            </a:r>
            <a:endParaRPr lang="en-US" sz="3000" dirty="0"/>
          </a:p>
        </p:txBody>
      </p:sp>
      <p:sp>
        <p:nvSpPr>
          <p:cNvPr id="3" name="Shape 1"/>
          <p:cNvSpPr/>
          <p:nvPr/>
        </p:nvSpPr>
        <p:spPr>
          <a:xfrm>
            <a:off x="640080" y="914400"/>
            <a:ext cx="914400" cy="36576"/>
          </a:xfrm>
          <a:prstGeom prst="rect">
            <a:avLst/>
          </a:prstGeom>
          <a:solidFill>
            <a:srgbClr val="3B82F6"/>
          </a:solidFill>
          <a:ln/>
        </p:spPr>
      </p:sp>
      <p:sp>
        <p:nvSpPr>
          <p:cNvPr id="4" name="Shape 2"/>
          <p:cNvSpPr/>
          <p:nvPr/>
        </p:nvSpPr>
        <p:spPr>
          <a:xfrm>
            <a:off x="457200" y="1097280"/>
            <a:ext cx="54864" cy="1005840"/>
          </a:xfrm>
          <a:prstGeom prst="rect">
            <a:avLst/>
          </a:prstGeom>
          <a:solidFill>
            <a:srgbClr val="3B82F6"/>
          </a:solidFill>
          <a:ln/>
        </p:spPr>
      </p:sp>
      <p:sp>
        <p:nvSpPr>
          <p:cNvPr id="5" name="Text 3"/>
          <p:cNvSpPr/>
          <p:nvPr/>
        </p:nvSpPr>
        <p:spPr>
          <a:xfrm>
            <a:off x="685800" y="1143000"/>
            <a:ext cx="36576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Multi-language Support</a:t>
            </a:r>
            <a:endParaRPr lang="en-US" sz="1300" dirty="0"/>
          </a:p>
        </p:txBody>
      </p:sp>
      <p:sp>
        <p:nvSpPr>
          <p:cNvPr id="6" name="Text 4"/>
          <p:cNvSpPr/>
          <p:nvPr/>
        </p:nvSpPr>
        <p:spPr>
          <a:xfrm>
            <a:off x="685800" y="1463040"/>
            <a:ext cx="3657600" cy="54864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Add Malayalam and Hindi query support using multilingual embeddings for wider accessibility</a:t>
            </a:r>
            <a:endParaRPr lang="en-US" sz="1000" dirty="0"/>
          </a:p>
        </p:txBody>
      </p:sp>
      <p:sp>
        <p:nvSpPr>
          <p:cNvPr id="7" name="Shape 5"/>
          <p:cNvSpPr/>
          <p:nvPr/>
        </p:nvSpPr>
        <p:spPr>
          <a:xfrm>
            <a:off x="4754880" y="1097280"/>
            <a:ext cx="54864" cy="1005840"/>
          </a:xfrm>
          <a:prstGeom prst="rect">
            <a:avLst/>
          </a:prstGeom>
          <a:solidFill>
            <a:srgbClr val="3B82F6"/>
          </a:solidFill>
          <a:ln/>
        </p:spPr>
      </p:sp>
      <p:sp>
        <p:nvSpPr>
          <p:cNvPr id="8" name="Text 6"/>
          <p:cNvSpPr/>
          <p:nvPr/>
        </p:nvSpPr>
        <p:spPr>
          <a:xfrm>
            <a:off x="4983480" y="1143000"/>
            <a:ext cx="36576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Voice Interface</a:t>
            </a:r>
            <a:endParaRPr lang="en-US" sz="1300" dirty="0"/>
          </a:p>
        </p:txBody>
      </p:sp>
      <p:sp>
        <p:nvSpPr>
          <p:cNvPr id="9" name="Text 7"/>
          <p:cNvSpPr/>
          <p:nvPr/>
        </p:nvSpPr>
        <p:spPr>
          <a:xfrm>
            <a:off x="4983480" y="1463040"/>
            <a:ext cx="3657600" cy="54864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Speech-to-text input and text-to-speech responses for hands-free interaction</a:t>
            </a:r>
            <a:endParaRPr lang="en-US" sz="1000" dirty="0"/>
          </a:p>
        </p:txBody>
      </p:sp>
      <p:sp>
        <p:nvSpPr>
          <p:cNvPr id="10" name="Shape 8"/>
          <p:cNvSpPr/>
          <p:nvPr/>
        </p:nvSpPr>
        <p:spPr>
          <a:xfrm>
            <a:off x="457200" y="2377440"/>
            <a:ext cx="54864" cy="1005840"/>
          </a:xfrm>
          <a:prstGeom prst="rect">
            <a:avLst/>
          </a:prstGeom>
          <a:solidFill>
            <a:srgbClr val="3B82F6"/>
          </a:solidFill>
          <a:ln/>
        </p:spPr>
      </p:sp>
      <p:sp>
        <p:nvSpPr>
          <p:cNvPr id="11" name="Text 9"/>
          <p:cNvSpPr/>
          <p:nvPr/>
        </p:nvSpPr>
        <p:spPr>
          <a:xfrm>
            <a:off x="685800" y="2423160"/>
            <a:ext cx="36576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Analytics Dashboard</a:t>
            </a:r>
            <a:endParaRPr lang="en-US" sz="1300" dirty="0"/>
          </a:p>
        </p:txBody>
      </p:sp>
      <p:sp>
        <p:nvSpPr>
          <p:cNvPr id="12" name="Text 10"/>
          <p:cNvSpPr/>
          <p:nvPr/>
        </p:nvSpPr>
        <p:spPr>
          <a:xfrm>
            <a:off x="685800" y="2743200"/>
            <a:ext cx="3657600" cy="54864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Track frequently asked questions, identify information gaps, and monitor chatbot performance</a:t>
            </a:r>
            <a:endParaRPr lang="en-US" sz="1000" dirty="0"/>
          </a:p>
        </p:txBody>
      </p:sp>
      <p:sp>
        <p:nvSpPr>
          <p:cNvPr id="13" name="Shape 11"/>
          <p:cNvSpPr/>
          <p:nvPr/>
        </p:nvSpPr>
        <p:spPr>
          <a:xfrm>
            <a:off x="4754880" y="2377440"/>
            <a:ext cx="54864" cy="1005840"/>
          </a:xfrm>
          <a:prstGeom prst="rect">
            <a:avLst/>
          </a:prstGeom>
          <a:solidFill>
            <a:srgbClr val="3B82F6"/>
          </a:solidFill>
          <a:ln/>
        </p:spPr>
      </p:sp>
      <p:sp>
        <p:nvSpPr>
          <p:cNvPr id="14" name="Text 12"/>
          <p:cNvSpPr/>
          <p:nvPr/>
        </p:nvSpPr>
        <p:spPr>
          <a:xfrm>
            <a:off x="4983480" y="2423160"/>
            <a:ext cx="36576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University Portal Integration</a:t>
            </a:r>
            <a:endParaRPr lang="en-US" sz="1300" dirty="0"/>
          </a:p>
        </p:txBody>
      </p:sp>
      <p:sp>
        <p:nvSpPr>
          <p:cNvPr id="15" name="Text 13"/>
          <p:cNvSpPr/>
          <p:nvPr/>
        </p:nvSpPr>
        <p:spPr>
          <a:xfrm>
            <a:off x="4983480" y="2743200"/>
            <a:ext cx="3657600" cy="54864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Connect with CUSAT student portal for personalized responses based on student profile</a:t>
            </a:r>
            <a:endParaRPr lang="en-US" sz="1000" dirty="0"/>
          </a:p>
        </p:txBody>
      </p:sp>
      <p:sp>
        <p:nvSpPr>
          <p:cNvPr id="16" name="Shape 14"/>
          <p:cNvSpPr/>
          <p:nvPr/>
        </p:nvSpPr>
        <p:spPr>
          <a:xfrm>
            <a:off x="457200" y="3657600"/>
            <a:ext cx="54864" cy="1005840"/>
          </a:xfrm>
          <a:prstGeom prst="rect">
            <a:avLst/>
          </a:prstGeom>
          <a:solidFill>
            <a:srgbClr val="3B82F6"/>
          </a:solidFill>
          <a:ln/>
        </p:spPr>
      </p:sp>
      <p:sp>
        <p:nvSpPr>
          <p:cNvPr id="17" name="Text 15"/>
          <p:cNvSpPr/>
          <p:nvPr/>
        </p:nvSpPr>
        <p:spPr>
          <a:xfrm>
            <a:off x="685800" y="3703320"/>
            <a:ext cx="36576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Fine-tuned Domain Model</a:t>
            </a:r>
            <a:endParaRPr lang="en-US" sz="1300" dirty="0"/>
          </a:p>
        </p:txBody>
      </p:sp>
      <p:sp>
        <p:nvSpPr>
          <p:cNvPr id="18" name="Text 16"/>
          <p:cNvSpPr/>
          <p:nvPr/>
        </p:nvSpPr>
        <p:spPr>
          <a:xfrm>
            <a:off x="685800" y="4023360"/>
            <a:ext cx="3657600" cy="54864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Train a smaller, domain-specific model on department data for better accuracy and lower latency</a:t>
            </a:r>
            <a:endParaRPr lang="en-US" sz="1000" dirty="0"/>
          </a:p>
        </p:txBody>
      </p:sp>
      <p:sp>
        <p:nvSpPr>
          <p:cNvPr id="19" name="Shape 17"/>
          <p:cNvSpPr/>
          <p:nvPr/>
        </p:nvSpPr>
        <p:spPr>
          <a:xfrm>
            <a:off x="4754880" y="3657600"/>
            <a:ext cx="54864" cy="1005840"/>
          </a:xfrm>
          <a:prstGeom prst="rect">
            <a:avLst/>
          </a:prstGeom>
          <a:solidFill>
            <a:srgbClr val="3B82F6"/>
          </a:solidFill>
          <a:ln/>
        </p:spPr>
      </p:sp>
      <p:sp>
        <p:nvSpPr>
          <p:cNvPr id="20" name="Text 18"/>
          <p:cNvSpPr/>
          <p:nvPr/>
        </p:nvSpPr>
        <p:spPr>
          <a:xfrm>
            <a:off x="4983480" y="3703320"/>
            <a:ext cx="3657600" cy="274320"/>
          </a:xfrm>
          <a:prstGeom prst="rect">
            <a:avLst/>
          </a:prstGeom>
          <a:noFill/>
          <a:ln/>
        </p:spPr>
        <p:txBody>
          <a:bodyPr wrap="square" lIns="0" tIns="0" rIns="0" bIns="0" rtlCol="0" anchor="ctr"/>
          <a:lstStyle/>
          <a:p>
            <a:pPr indent="0" marL="0">
              <a:buNone/>
            </a:pPr>
            <a:r>
              <a:rPr lang="en-US" sz="1300" b="1" dirty="0">
                <a:solidFill>
                  <a:srgbClr val="0F172A"/>
                </a:solidFill>
                <a:latin typeface="Trebuchet MS" pitchFamily="34" charset="0"/>
                <a:ea typeface="Trebuchet MS" pitchFamily="34" charset="-122"/>
                <a:cs typeface="Trebuchet MS" pitchFamily="34" charset="-120"/>
              </a:rPr>
              <a:t>Multi-Department Scaling</a:t>
            </a:r>
            <a:endParaRPr lang="en-US" sz="1300" dirty="0"/>
          </a:p>
        </p:txBody>
      </p:sp>
      <p:sp>
        <p:nvSpPr>
          <p:cNvPr id="21" name="Text 19"/>
          <p:cNvSpPr/>
          <p:nvPr/>
        </p:nvSpPr>
        <p:spPr>
          <a:xfrm>
            <a:off x="4983480" y="4023360"/>
            <a:ext cx="3657600" cy="548640"/>
          </a:xfrm>
          <a:prstGeom prst="rect">
            <a:avLst/>
          </a:prstGeom>
          <a:noFill/>
          <a:ln/>
        </p:spPr>
        <p:txBody>
          <a:bodyPr wrap="square" lIns="0" tIns="0" rIns="0" bIns="0" rtlCol="0" anchor="ctr"/>
          <a:lstStyle/>
          <a:p>
            <a:pPr indent="0" marL="0">
              <a:lnSpc>
                <a:spcPct val="140000"/>
              </a:lnSpc>
              <a:buNone/>
            </a:pPr>
            <a:r>
              <a:rPr lang="en-US" sz="1000" dirty="0">
                <a:solidFill>
                  <a:srgbClr val="64748B"/>
                </a:solidFill>
                <a:latin typeface="Calibri" pitchFamily="34" charset="0"/>
                <a:ea typeface="Calibri" pitchFamily="34" charset="-122"/>
                <a:cs typeface="Calibri" pitchFamily="34" charset="-120"/>
              </a:rPr>
              <a:t>Extend the system to serve multiple departments across the university with isolated knowledge bases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B82F6"/>
          </a:solidFill>
          <a:ln/>
        </p:spPr>
      </p:sp>
      <p:sp>
        <p:nvSpPr>
          <p:cNvPr id="3" name="Text 1"/>
          <p:cNvSpPr/>
          <p:nvPr/>
        </p:nvSpPr>
        <p:spPr>
          <a:xfrm>
            <a:off x="640080" y="457200"/>
            <a:ext cx="7315200" cy="457200"/>
          </a:xfrm>
          <a:prstGeom prst="rect">
            <a:avLst/>
          </a:prstGeom>
          <a:noFill/>
          <a:ln/>
        </p:spPr>
        <p:txBody>
          <a:bodyPr wrap="square" rtlCol="0" anchor="ctr"/>
          <a:lstStyle/>
          <a:p>
            <a:pPr indent="0" marL="0">
              <a:buNone/>
            </a:pPr>
            <a:r>
              <a:rPr lang="en-US" sz="2400" b="1" dirty="0">
                <a:solidFill>
                  <a:srgbClr val="3B82F6"/>
                </a:solidFill>
                <a:latin typeface="Trebuchet MS" pitchFamily="34" charset="0"/>
                <a:ea typeface="Trebuchet MS" pitchFamily="34" charset="-122"/>
                <a:cs typeface="Trebuchet MS" pitchFamily="34" charset="-120"/>
              </a:rPr>
              <a:t>Conclusion</a:t>
            </a:r>
            <a:endParaRPr lang="en-US" sz="2400" dirty="0"/>
          </a:p>
        </p:txBody>
      </p:sp>
      <p:sp>
        <p:nvSpPr>
          <p:cNvPr id="4" name="Text 2"/>
          <p:cNvSpPr/>
          <p:nvPr/>
        </p:nvSpPr>
        <p:spPr>
          <a:xfrm>
            <a:off x="640080" y="1005840"/>
            <a:ext cx="7772400" cy="822960"/>
          </a:xfrm>
          <a:prstGeom prst="rect">
            <a:avLst/>
          </a:prstGeom>
          <a:noFill/>
          <a:ln/>
        </p:spPr>
        <p:txBody>
          <a:bodyPr wrap="square" rtlCol="0" anchor="ctr"/>
          <a:lstStyle/>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Successfully developed an intelligent RAG-based chatbot for the Department of Computer Science, CUSAT. The system ingests department documents, indexes them using vector embeddings, and uses a Large Language Model to provide accurate, natural language responses to visitor queries — available 24/7.</a:t>
            </a:r>
            <a:endParaRPr lang="en-US" sz="1200" dirty="0"/>
          </a:p>
        </p:txBody>
      </p:sp>
      <p:sp>
        <p:nvSpPr>
          <p:cNvPr id="5" name="Text 3"/>
          <p:cNvSpPr/>
          <p:nvPr/>
        </p:nvSpPr>
        <p:spPr>
          <a:xfrm>
            <a:off x="640080" y="1920240"/>
            <a:ext cx="7772400" cy="548640"/>
          </a:xfrm>
          <a:prstGeom prst="rect">
            <a:avLst/>
          </a:prstGeom>
          <a:noFill/>
          <a:ln/>
        </p:spPr>
        <p:txBody>
          <a:bodyPr wrap="square" rtlCol="0" anchor="ctr"/>
          <a:lstStyle/>
          <a:p>
            <a:pPr indent="0" marL="0">
              <a:lnSpc>
                <a:spcPct val="150000"/>
              </a:lnSpc>
              <a:buNone/>
            </a:pPr>
            <a:r>
              <a:rPr lang="en-US" sz="1200" dirty="0">
                <a:solidFill>
                  <a:srgbClr val="94A3B8"/>
                </a:solidFill>
                <a:latin typeface="Calibri" pitchFamily="34" charset="0"/>
                <a:ea typeface="Calibri" pitchFamily="34" charset="-122"/>
                <a:cs typeface="Calibri" pitchFamily="34" charset="-120"/>
              </a:rPr>
              <a:t>The hybrid retrieval approach (semantic + keyword search) with intelligent chunking ensures reliable information retrieval, while the persistent conversation system enables meaningful follow-up interactions.</a:t>
            </a:r>
            <a:endParaRPr lang="en-US" sz="1200" dirty="0"/>
          </a:p>
        </p:txBody>
      </p:sp>
      <p:pic>
        <p:nvPicPr>
          <p:cNvPr id="6" name="Image 0" descr="preencoded.png">    </p:cNvPr>
          <p:cNvPicPr>
            <a:picLocks noChangeAspect="1"/>
          </p:cNvPicPr>
          <p:nvPr/>
        </p:nvPicPr>
        <p:blipFill>
          <a:blip r:embed="rId1"/>
          <a:stretch>
            <a:fillRect/>
          </a:stretch>
        </p:blipFill>
        <p:spPr>
          <a:xfrm>
            <a:off x="3931920" y="2834640"/>
            <a:ext cx="640080" cy="640080"/>
          </a:xfrm>
          <a:prstGeom prst="rect">
            <a:avLst/>
          </a:prstGeom>
        </p:spPr>
      </p:pic>
      <p:sp>
        <p:nvSpPr>
          <p:cNvPr id="7" name="Text 4"/>
          <p:cNvSpPr/>
          <p:nvPr/>
        </p:nvSpPr>
        <p:spPr>
          <a:xfrm>
            <a:off x="914400" y="3566160"/>
            <a:ext cx="7315200" cy="640080"/>
          </a:xfrm>
          <a:prstGeom prst="rect">
            <a:avLst/>
          </a:prstGeom>
          <a:noFill/>
          <a:ln/>
        </p:spPr>
        <p:txBody>
          <a:bodyPr wrap="square" rtlCol="0" anchor="ctr"/>
          <a:lstStyle/>
          <a:p>
            <a:pPr algn="ctr" indent="0" marL="0">
              <a:buNone/>
            </a:pPr>
            <a:r>
              <a:rPr lang="en-US" sz="3600" b="1" dirty="0">
                <a:solidFill>
                  <a:srgbClr val="FFFFFF"/>
                </a:solidFill>
                <a:latin typeface="Trebuchet MS" pitchFamily="34" charset="0"/>
                <a:ea typeface="Trebuchet MS" pitchFamily="34" charset="-122"/>
                <a:cs typeface="Trebuchet MS" pitchFamily="34" charset="-120"/>
              </a:rPr>
              <a:t>Thank You</a:t>
            </a:r>
            <a:endParaRPr lang="en-US" sz="3600" dirty="0"/>
          </a:p>
        </p:txBody>
      </p:sp>
      <p:sp>
        <p:nvSpPr>
          <p:cNvPr id="8" name="Text 5"/>
          <p:cNvSpPr/>
          <p:nvPr/>
        </p:nvSpPr>
        <p:spPr>
          <a:xfrm>
            <a:off x="914400" y="4297680"/>
            <a:ext cx="7315200" cy="365760"/>
          </a:xfrm>
          <a:prstGeom prst="rect">
            <a:avLst/>
          </a:prstGeom>
          <a:noFill/>
          <a:ln/>
        </p:spPr>
        <p:txBody>
          <a:bodyPr wrap="square" rtlCol="0" anchor="ctr"/>
          <a:lstStyle/>
          <a:p>
            <a:pPr algn="ctr" indent="0" marL="0">
              <a:buNone/>
            </a:pPr>
            <a:r>
              <a:rPr lang="en-US" sz="1600" dirty="0">
                <a:solidFill>
                  <a:srgbClr val="64748B"/>
                </a:solidFill>
                <a:latin typeface="Trebuchet MS" pitchFamily="34" charset="0"/>
                <a:ea typeface="Trebuchet MS" pitchFamily="34" charset="-122"/>
                <a:cs typeface="Trebuchet MS" pitchFamily="34" charset="-120"/>
              </a:rPr>
              <a:t>Questions?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RAG-Based Department Chatbot - Mini Project</dc:title>
  <dc:subject>PptxGenJS Presentation</dc:subject>
  <dc:creator>Aswin Suresh</dc:creator>
  <cp:lastModifiedBy>Aswin Suresh</cp:lastModifiedBy>
  <cp:revision>1</cp:revision>
  <dcterms:created xsi:type="dcterms:W3CDTF">2026-04-19T09:36:16Z</dcterms:created>
  <dcterms:modified xsi:type="dcterms:W3CDTF">2026-04-19T09:36:16Z</dcterms:modified>
</cp:coreProperties>
</file>